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4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011680"/>
            <a:ext cx="5943600" cy="5943600"/>
          </a:xfrm>
          <a:prstGeom prst="ellipse">
            <a:avLst/>
          </a:prstGeom>
          <a:solidFill>
            <a:srgbClr val="2E7D32">
              <a:alpha val="18000"/>
            </a:srgbClr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463040" y="4754880"/>
            <a:ext cx="4114800" cy="4114800"/>
          </a:xfrm>
          <a:prstGeom prst="ellipse">
            <a:avLst/>
          </a:prstGeom>
          <a:solidFill>
            <a:srgbClr val="1976D2">
              <a:alpha val="15000"/>
            </a:srgbClr>
          </a:solidFill>
          <a:ln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1143000" cy="1143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/tmp/assets/out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49808"/>
            <a:ext cx="777240" cy="4522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74520" y="640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Agrilink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1874520" y="1188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intelligente pour une agriculture durable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14884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Analyse, conception et réalisation d'une plateforme numérique intelligente pour la gestion des procédés agricoles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343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 DE STAGE · DTS GÉNIE LOGICIEL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SOPPO SONG Kadmiel Depaix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académique : Mme BIDIMA EYENGA Dyna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professionnel : M. TAGNE NJIMEFO Alex B.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5943600"/>
            <a:ext cx="21031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/tmp/assets/out/ia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989320"/>
            <a:ext cx="879071" cy="548640"/>
          </a:xfrm>
          <a:prstGeom prst="rect">
            <a:avLst/>
          </a:prstGeom>
        </p:spPr>
      </p:pic>
      <p:pic>
        <p:nvPicPr>
          <p:cNvPr id="13" name="Image 2" descr="/tmp/assets/out/dg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960" y="5989320"/>
            <a:ext cx="548640" cy="56197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834640" y="6080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IAI-Cameroun · DGC Sarl · 2025 – 2026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7223760" y="1103358"/>
            <a:ext cx="4572000" cy="2365283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16" name="Image 3" descr="/tmp/assets/out/das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1103358"/>
            <a:ext cx="4572000" cy="2365283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7680960" y="3964823"/>
            <a:ext cx="4114800" cy="2128755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18" name="Image 4" descr="/tmp/assets/out/soi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3964823"/>
            <a:ext cx="4114800" cy="21287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3200" dirty="0"/>
          </a:p>
        </p:txBody>
      </p:sp>
      <p:pic>
        <p:nvPicPr>
          <p:cNvPr id="4" name="Image 0" descr="/tmp/assets/out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320040"/>
            <a:ext cx="777240" cy="4522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22960" y="1920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3154680" y="1920240"/>
            <a:ext cx="640080" cy="64008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8299" y="2073859"/>
            <a:ext cx="332842" cy="33284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22960" y="26974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4297680" y="173736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4572000" y="1920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Shape 9"/>
          <p:cNvSpPr/>
          <p:nvPr/>
        </p:nvSpPr>
        <p:spPr>
          <a:xfrm>
            <a:off x="6903720" y="1920240"/>
            <a:ext cx="640080" cy="64008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7339" y="2073859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572000" y="26974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Agrilink</a:t>
            </a:r>
            <a:endParaRPr lang="en-US" sz="2000" dirty="0"/>
          </a:p>
        </p:txBody>
      </p:sp>
      <p:sp>
        <p:nvSpPr>
          <p:cNvPr id="16" name="Shape 11"/>
          <p:cNvSpPr/>
          <p:nvPr/>
        </p:nvSpPr>
        <p:spPr>
          <a:xfrm>
            <a:off x="8046720" y="173736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Text 12"/>
          <p:cNvSpPr txBox="1"/>
          <p:nvPr/>
        </p:nvSpPr>
        <p:spPr>
          <a:xfrm>
            <a:off x="8321040" y="1920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Shape 13"/>
          <p:cNvSpPr/>
          <p:nvPr/>
        </p:nvSpPr>
        <p:spPr>
          <a:xfrm>
            <a:off x="10652760" y="1920240"/>
            <a:ext cx="640080" cy="64008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6379" y="2073859"/>
            <a:ext cx="332842" cy="33284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321040" y="26974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&amp; conception</a:t>
            </a:r>
            <a:endParaRPr lang="en-US" sz="2000" dirty="0"/>
          </a:p>
        </p:txBody>
      </p:sp>
      <p:sp>
        <p:nvSpPr>
          <p:cNvPr id="21" name="Shape 15"/>
          <p:cNvSpPr/>
          <p:nvPr/>
        </p:nvSpPr>
        <p:spPr>
          <a:xfrm>
            <a:off x="548640" y="393192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2" name="Text 16"/>
          <p:cNvSpPr txBox="1"/>
          <p:nvPr/>
        </p:nvSpPr>
        <p:spPr>
          <a:xfrm>
            <a:off x="822960" y="4114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Shape 17"/>
          <p:cNvSpPr/>
          <p:nvPr/>
        </p:nvSpPr>
        <p:spPr>
          <a:xfrm>
            <a:off x="3154680" y="4114800"/>
            <a:ext cx="640080" cy="64008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8299" y="4268419"/>
            <a:ext cx="332842" cy="33284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22960" y="48920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</a:t>
            </a:r>
            <a:endParaRPr lang="en-US" sz="2000" dirty="0"/>
          </a:p>
        </p:txBody>
      </p:sp>
      <p:sp>
        <p:nvSpPr>
          <p:cNvPr id="26" name="Shape 19"/>
          <p:cNvSpPr/>
          <p:nvPr/>
        </p:nvSpPr>
        <p:spPr>
          <a:xfrm>
            <a:off x="4297680" y="393192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7" name="Text 20"/>
          <p:cNvSpPr txBox="1"/>
          <p:nvPr/>
        </p:nvSpPr>
        <p:spPr>
          <a:xfrm>
            <a:off x="4572000" y="4114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600" dirty="0"/>
          </a:p>
        </p:txBody>
      </p:sp>
      <p:sp>
        <p:nvSpPr>
          <p:cNvPr id="28" name="Shape 21"/>
          <p:cNvSpPr/>
          <p:nvPr/>
        </p:nvSpPr>
        <p:spPr>
          <a:xfrm>
            <a:off x="6903720" y="4114800"/>
            <a:ext cx="640080" cy="64008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7339" y="4268419"/>
            <a:ext cx="332842" cy="332842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4572000" y="48920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résultats</a:t>
            </a:r>
            <a:endParaRPr lang="en-US" sz="2000" dirty="0"/>
          </a:p>
        </p:txBody>
      </p:sp>
      <p:sp>
        <p:nvSpPr>
          <p:cNvPr id="31" name="Shape 23"/>
          <p:cNvSpPr/>
          <p:nvPr/>
        </p:nvSpPr>
        <p:spPr>
          <a:xfrm>
            <a:off x="8046720" y="393192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2" name="Text 24"/>
          <p:cNvSpPr txBox="1"/>
          <p:nvPr/>
        </p:nvSpPr>
        <p:spPr>
          <a:xfrm>
            <a:off x="8321040" y="4114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600" dirty="0"/>
          </a:p>
        </p:txBody>
      </p:sp>
      <p:sp>
        <p:nvSpPr>
          <p:cNvPr id="33" name="Shape 25"/>
          <p:cNvSpPr/>
          <p:nvPr/>
        </p:nvSpPr>
        <p:spPr>
          <a:xfrm>
            <a:off x="10652760" y="4114800"/>
            <a:ext cx="640080" cy="64008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06379" y="4268419"/>
            <a:ext cx="332842" cy="332842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8321040" y="48920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/ CONTEXTE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3200" dirty="0"/>
          </a:p>
        </p:txBody>
      </p:sp>
      <p:pic>
        <p:nvPicPr>
          <p:cNvPr id="4" name="Image 0" descr="/tmp/assets/out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320040"/>
            <a:ext cx="777240" cy="4522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347472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737360" y="2011680"/>
            <a:ext cx="1097280" cy="109728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707" y="2275027"/>
            <a:ext cx="570586" cy="57058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3291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Agriculture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clé du Cameroun</a:t>
            </a:r>
            <a:endParaRPr lang="en-US" sz="16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3017520"/>
            <a:ext cx="228600" cy="228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297680" y="1737360"/>
            <a:ext cx="347472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5486400" y="2011680"/>
            <a:ext cx="1097280" cy="109728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9747" y="2275027"/>
            <a:ext cx="570586" cy="57058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297680" y="3291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Numérique</a:t>
            </a:r>
            <a:endParaRPr lang="en-US" sz="2200" dirty="0"/>
          </a:p>
        </p:txBody>
      </p:sp>
      <p:sp>
        <p:nvSpPr>
          <p:cNvPr id="16" name="Text 10"/>
          <p:cNvSpPr txBox="1"/>
          <p:nvPr/>
        </p:nvSpPr>
        <p:spPr>
          <a:xfrm>
            <a:off x="4480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et Internet accessibles</a:t>
            </a:r>
            <a:endParaRPr lang="en-US" sz="16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3017520"/>
            <a:ext cx="228600" cy="228600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8046720" y="1737360"/>
            <a:ext cx="347472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9235440" y="2011680"/>
            <a:ext cx="1097280" cy="109728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8787" y="2275027"/>
            <a:ext cx="570586" cy="570586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8046720" y="3291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artificielle</a:t>
            </a:r>
            <a:endParaRPr lang="en-US" sz="2200" dirty="0"/>
          </a:p>
        </p:txBody>
      </p:sp>
      <p:sp>
        <p:nvSpPr>
          <p:cNvPr id="22" name="Text 14"/>
          <p:cNvSpPr txBox="1"/>
          <p:nvPr/>
        </p:nvSpPr>
        <p:spPr>
          <a:xfrm>
            <a:off x="822960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 à la décision</a:t>
            </a:r>
            <a:endParaRPr lang="en-US" sz="1600" dirty="0"/>
          </a:p>
        </p:txBody>
      </p:sp>
      <p:sp>
        <p:nvSpPr>
          <p:cNvPr id="23" name="Text 15"/>
          <p:cNvSpPr txBox="1"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plateforme pour gérer, planifier et décider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D’ACCUEIL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Présentation de DGC</a:t>
            </a:r>
            <a:endParaRPr lang="en-US" sz="3200" dirty="0"/>
          </a:p>
        </p:txBody>
      </p:sp>
      <p:pic>
        <p:nvPicPr>
          <p:cNvPr id="4" name="Image 0" descr="/tmp/assets/out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320040"/>
            <a:ext cx="777240" cy="4522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67665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7" name="Image 1" descr="/tmp/assets/out/dg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00200"/>
            <a:ext cx="1005840" cy="103028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011680" y="16002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Generation Company SARL</a:t>
            </a:r>
            <a:endParaRPr lang="en-US" sz="2100" dirty="0"/>
          </a:p>
        </p:txBody>
      </p:sp>
      <p:sp>
        <p:nvSpPr>
          <p:cNvPr id="9" name="Text 5"/>
          <p:cNvSpPr txBox="1"/>
          <p:nvPr/>
        </p:nvSpPr>
        <p:spPr>
          <a:xfrm>
            <a:off x="2011680" y="21031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Numérique au service de l’émergence de l’Afrique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48640" y="3017520"/>
            <a:ext cx="594360" cy="59436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3160166"/>
            <a:ext cx="309067" cy="30906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25880" y="301752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Créée le 17 juillet 2022</a:t>
            </a:r>
            <a:endParaRPr lang="en-US" sz="1700" dirty="0"/>
          </a:p>
        </p:txBody>
      </p:sp>
      <p:sp>
        <p:nvSpPr>
          <p:cNvPr id="13" name="Shape 8"/>
          <p:cNvSpPr/>
          <p:nvPr/>
        </p:nvSpPr>
        <p:spPr>
          <a:xfrm>
            <a:off x="548640" y="3794760"/>
            <a:ext cx="594360" cy="59436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" y="3937406"/>
            <a:ext cx="309067" cy="309067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25880" y="379476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Étoug-Ébé (Montée Science), Yaoundé</a:t>
            </a:r>
            <a:endParaRPr lang="en-US" sz="1700" dirty="0"/>
          </a:p>
        </p:txBody>
      </p:sp>
      <p:sp>
        <p:nvSpPr>
          <p:cNvPr id="16" name="Shape 10"/>
          <p:cNvSpPr/>
          <p:nvPr/>
        </p:nvSpPr>
        <p:spPr>
          <a:xfrm>
            <a:off x="548640" y="4572000"/>
            <a:ext cx="594360" cy="59436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286" y="4714646"/>
            <a:ext cx="309067" cy="309067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325880" y="457200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de développement · Direction des projets</a:t>
            </a:r>
            <a:endParaRPr lang="en-US" sz="1700" dirty="0"/>
          </a:p>
        </p:txBody>
      </p:sp>
      <p:sp>
        <p:nvSpPr>
          <p:cNvPr id="19" name="Shape 12"/>
          <p:cNvSpPr/>
          <p:nvPr/>
        </p:nvSpPr>
        <p:spPr>
          <a:xfrm>
            <a:off x="548640" y="5458968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20" name="Text 13"/>
          <p:cNvSpPr txBox="1"/>
          <p:nvPr/>
        </p:nvSpPr>
        <p:spPr>
          <a:xfrm>
            <a:off x="548640" y="54589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&amp; sites web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2834640" y="5458968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2834640" y="54589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Infographie &amp; design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5120640" y="5458968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5120640" y="54589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&amp; sécurité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548640" y="5916168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548640" y="59161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digital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2834640" y="5916168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2834640" y="59161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Formations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7680960" y="1967487"/>
            <a:ext cx="4023360" cy="3197346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30" name="Image 5" descr="/tmp/assets/out/ma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0" y="1967487"/>
            <a:ext cx="4023360" cy="319734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680960" y="5760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siège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et enjeux agricoles</a:t>
            </a:r>
            <a:endParaRPr lang="en-US" sz="3200" dirty="0"/>
          </a:p>
        </p:txBody>
      </p:sp>
      <p:pic>
        <p:nvPicPr>
          <p:cNvPr id="4" name="Image 0" descr="/tmp/assets/out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320040"/>
            <a:ext cx="777240" cy="4522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34747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548640" y="17830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18,5 %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8803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PIB (2024)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297680" y="1554480"/>
            <a:ext cx="34747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297680" y="17830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42,4 %</a:t>
            </a:r>
            <a:endParaRPr lang="en-US" sz="5400" dirty="0"/>
          </a:p>
        </p:txBody>
      </p:sp>
      <p:sp>
        <p:nvSpPr>
          <p:cNvPr id="11" name="Text 8"/>
          <p:cNvSpPr txBox="1"/>
          <p:nvPr/>
        </p:nvSpPr>
        <p:spPr>
          <a:xfrm>
            <a:off x="4480560" y="28803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population active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8046720" y="1554480"/>
            <a:ext cx="34747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046720" y="17830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40 %</a:t>
            </a:r>
            <a:endParaRPr lang="en-US" sz="54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28803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pertes sur certaines productions (FAO)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Procédés agricoles à organiser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48640" y="4754880"/>
            <a:ext cx="822960" cy="8229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50" y="4952390"/>
            <a:ext cx="427939" cy="427939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463040" y="47548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2807208" y="4754880"/>
            <a:ext cx="822960" cy="8229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4718" y="4952390"/>
            <a:ext cx="427939" cy="427939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3721608" y="47548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Plantation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5065776" y="4754880"/>
            <a:ext cx="822960" cy="8229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3286" y="4952390"/>
            <a:ext cx="427939" cy="427939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980176" y="47548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Entretien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7324344" y="4754880"/>
            <a:ext cx="822960" cy="8229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1854" y="4952390"/>
            <a:ext cx="427939" cy="427939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8238744" y="47548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Traitements</a:t>
            </a:r>
            <a:endParaRPr lang="en-US" sz="1600" dirty="0"/>
          </a:p>
        </p:txBody>
      </p:sp>
      <p:sp>
        <p:nvSpPr>
          <p:cNvPr id="28" name="Shape 21"/>
          <p:cNvSpPr/>
          <p:nvPr/>
        </p:nvSpPr>
        <p:spPr>
          <a:xfrm>
            <a:off x="9582912" y="4754880"/>
            <a:ext cx="822960" cy="8229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0422" y="4952390"/>
            <a:ext cx="427939" cy="427939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0497312" y="47548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Récolte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Problèmes identifiés</a:t>
            </a:r>
            <a:endParaRPr lang="en-US" sz="3200" dirty="0"/>
          </a:p>
        </p:txBody>
      </p:sp>
      <p:pic>
        <p:nvPicPr>
          <p:cNvPr id="4" name="Image 0" descr="/tmp/assets/out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320040"/>
            <a:ext cx="777240" cy="4522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920240"/>
            <a:ext cx="685800" cy="6858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2084832"/>
            <a:ext cx="356616" cy="35661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77240" y="2651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traditionnelle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3355848" y="164592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584448" y="1920240"/>
            <a:ext cx="685800" cy="6858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2084832"/>
            <a:ext cx="356616" cy="35661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584448" y="2651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Maladies détectées trop tard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6163056" y="164592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6391656" y="1920240"/>
            <a:ext cx="685800" cy="6858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2084832"/>
            <a:ext cx="356616" cy="35661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391656" y="2651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Rendements imprévisibles</a:t>
            </a:r>
            <a:endParaRPr lang="en-US" sz="1700" dirty="0"/>
          </a:p>
        </p:txBody>
      </p:sp>
      <p:sp>
        <p:nvSpPr>
          <p:cNvPr id="18" name="Shape 12"/>
          <p:cNvSpPr/>
          <p:nvPr/>
        </p:nvSpPr>
        <p:spPr>
          <a:xfrm>
            <a:off x="8970264" y="164592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9198864" y="1920240"/>
            <a:ext cx="685800" cy="6858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3456" y="2084832"/>
            <a:ext cx="356616" cy="35661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198864" y="2651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 techniques peu fiables</a:t>
            </a:r>
            <a:endParaRPr lang="en-US" sz="1700" dirty="0"/>
          </a:p>
        </p:txBody>
      </p:sp>
      <p:sp>
        <p:nvSpPr>
          <p:cNvPr id="22" name="Shape 15"/>
          <p:cNvSpPr/>
          <p:nvPr/>
        </p:nvSpPr>
        <p:spPr>
          <a:xfrm>
            <a:off x="548640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777240" y="4023360"/>
            <a:ext cx="685800" cy="6858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4187952"/>
            <a:ext cx="356616" cy="356616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777240" y="47548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cultures limité</a:t>
            </a:r>
            <a:endParaRPr lang="en-US" sz="1700" dirty="0"/>
          </a:p>
        </p:txBody>
      </p:sp>
      <p:sp>
        <p:nvSpPr>
          <p:cNvPr id="26" name="Shape 18"/>
          <p:cNvSpPr/>
          <p:nvPr/>
        </p:nvSpPr>
        <p:spPr>
          <a:xfrm>
            <a:off x="4297680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526280" y="4023360"/>
            <a:ext cx="685800" cy="6858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0872" y="4187952"/>
            <a:ext cx="356616" cy="356616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4526280" y="47548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Aléas climatiques</a:t>
            </a:r>
            <a:endParaRPr lang="en-US" sz="1700" dirty="0"/>
          </a:p>
        </p:txBody>
      </p:sp>
      <p:sp>
        <p:nvSpPr>
          <p:cNvPr id="30" name="Shape 21"/>
          <p:cNvSpPr/>
          <p:nvPr/>
        </p:nvSpPr>
        <p:spPr>
          <a:xfrm>
            <a:off x="8046720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8275320" y="4023360"/>
            <a:ext cx="685800" cy="6858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9912" y="4187952"/>
            <a:ext cx="356616" cy="356616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8275320" y="47548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existantes peu adaptées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4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CENTRALE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Problématique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88720" cy="11887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933" y="2022653"/>
            <a:ext cx="618134" cy="6181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103120" y="1645920"/>
            <a:ext cx="9418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Comment améliorer la gestion, la planification et le suivi des procédés agricoles tout en facilitant la prise de décision des producteurs ? »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4572000"/>
            <a:ext cx="2606040" cy="1005840"/>
          </a:xfrm>
          <a:prstGeom prst="roundRect">
            <a:avLst>
              <a:gd name="adj" fmla="val 1363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5D6A7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846320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63040" y="45720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3383280" y="4572000"/>
            <a:ext cx="2606040" cy="1005840"/>
          </a:xfrm>
          <a:prstGeom prst="roundRect">
            <a:avLst>
              <a:gd name="adj" fmla="val 1363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5D6A7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484632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297680" y="45720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</a:t>
            </a:r>
            <a:endParaRPr lang="en-US" sz="2000" dirty="0"/>
          </a:p>
        </p:txBody>
      </p:sp>
      <p:sp>
        <p:nvSpPr>
          <p:cNvPr id="13" name="Shape 8"/>
          <p:cNvSpPr/>
          <p:nvPr/>
        </p:nvSpPr>
        <p:spPr>
          <a:xfrm>
            <a:off x="6217920" y="4572000"/>
            <a:ext cx="2606040" cy="1005840"/>
          </a:xfrm>
          <a:prstGeom prst="roundRect">
            <a:avLst>
              <a:gd name="adj" fmla="val 1363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5D6A7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846320"/>
            <a:ext cx="457200" cy="4572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132320" y="45720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</a:t>
            </a:r>
            <a:endParaRPr lang="en-US" sz="2000" dirty="0"/>
          </a:p>
        </p:txBody>
      </p:sp>
      <p:sp>
        <p:nvSpPr>
          <p:cNvPr id="16" name="Shape 10"/>
          <p:cNvSpPr/>
          <p:nvPr/>
        </p:nvSpPr>
        <p:spPr>
          <a:xfrm>
            <a:off x="9052560" y="4572000"/>
            <a:ext cx="2606040" cy="1005840"/>
          </a:xfrm>
          <a:prstGeom prst="roundRect">
            <a:avLst>
              <a:gd name="adj" fmla="val 1363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5D6A7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0" y="4846320"/>
            <a:ext cx="457200" cy="4572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9966960" y="45720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4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280160" cy="1280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tmp/assets/out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941832"/>
            <a:ext cx="877824" cy="51073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286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PROPOSÉE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6517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Agrilink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5760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numérique et intelligente de gestion des procédés agricoles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493776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4937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514600" y="493776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514600" y="4937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IA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480560" y="493776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480560" y="4937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949440" y="804808"/>
            <a:ext cx="4754880" cy="5248385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14" name="Image 1" descr="/tmp/assets/out/maquet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804808"/>
            <a:ext cx="4754880" cy="52483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Fonctionnalités principales</a:t>
            </a:r>
            <a:endParaRPr lang="en-US" sz="3200" dirty="0"/>
          </a:p>
        </p:txBody>
      </p:sp>
      <p:pic>
        <p:nvPicPr>
          <p:cNvPr id="4" name="Image 0" descr="/tmp/assets/out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320040"/>
            <a:ext cx="777240" cy="4522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714500"/>
            <a:ext cx="731520" cy="73152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805" y="1890065"/>
            <a:ext cx="380390" cy="38039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45920" y="164592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Exploitations, parcelles, cultures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6172200" y="155448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400800" y="1714500"/>
            <a:ext cx="731520" cy="73152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6365" y="1890065"/>
            <a:ext cx="380390" cy="38039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69480" y="164592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des activités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74320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777240" y="2903220"/>
            <a:ext cx="731520" cy="73152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805" y="3078785"/>
            <a:ext cx="380390" cy="38039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645920" y="283464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opérations</a:t>
            </a:r>
            <a:endParaRPr lang="en-US" sz="1700" dirty="0"/>
          </a:p>
        </p:txBody>
      </p:sp>
      <p:sp>
        <p:nvSpPr>
          <p:cNvPr id="18" name="Shape 12"/>
          <p:cNvSpPr/>
          <p:nvPr/>
        </p:nvSpPr>
        <p:spPr>
          <a:xfrm>
            <a:off x="6172200" y="274320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400800" y="2903220"/>
            <a:ext cx="731520" cy="73152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6365" y="3078785"/>
            <a:ext cx="380390" cy="38039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269480" y="283464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Intrants et ressources</a:t>
            </a:r>
            <a:endParaRPr lang="en-US" sz="1700" dirty="0"/>
          </a:p>
        </p:txBody>
      </p:sp>
      <p:sp>
        <p:nvSpPr>
          <p:cNvPr id="22" name="Shape 15"/>
          <p:cNvSpPr/>
          <p:nvPr/>
        </p:nvSpPr>
        <p:spPr>
          <a:xfrm>
            <a:off x="548640" y="393192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777240" y="4091940"/>
            <a:ext cx="731520" cy="73152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805" y="4267505"/>
            <a:ext cx="380390" cy="38039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645920" y="402336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phytosanitaire IA</a:t>
            </a:r>
            <a:endParaRPr lang="en-US" sz="1700" dirty="0"/>
          </a:p>
        </p:txBody>
      </p:sp>
      <p:sp>
        <p:nvSpPr>
          <p:cNvPr id="26" name="Shape 18"/>
          <p:cNvSpPr/>
          <p:nvPr/>
        </p:nvSpPr>
        <p:spPr>
          <a:xfrm>
            <a:off x="6172200" y="393192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6400800" y="4091940"/>
            <a:ext cx="731520" cy="73152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6365" y="4267505"/>
            <a:ext cx="380390" cy="38039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7269480" y="402336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et prédiction</a:t>
            </a:r>
            <a:endParaRPr lang="en-US" sz="1700" dirty="0"/>
          </a:p>
        </p:txBody>
      </p:sp>
      <p:sp>
        <p:nvSpPr>
          <p:cNvPr id="30" name="Shape 21"/>
          <p:cNvSpPr/>
          <p:nvPr/>
        </p:nvSpPr>
        <p:spPr>
          <a:xfrm>
            <a:off x="548640" y="512064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777240" y="5280660"/>
            <a:ext cx="731520" cy="73152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805" y="5456225"/>
            <a:ext cx="380390" cy="380390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1645920" y="521208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et alertes</a:t>
            </a:r>
            <a:endParaRPr lang="en-US" sz="1700" dirty="0"/>
          </a:p>
        </p:txBody>
      </p:sp>
      <p:sp>
        <p:nvSpPr>
          <p:cNvPr id="34" name="Shape 24"/>
          <p:cNvSpPr/>
          <p:nvPr/>
        </p:nvSpPr>
        <p:spPr>
          <a:xfrm>
            <a:off x="6172200" y="512064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6400800" y="5280660"/>
            <a:ext cx="731520" cy="73152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6365" y="5456225"/>
            <a:ext cx="380390" cy="380390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7269480" y="521208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Acteurs et cas d’utilisation</a:t>
            </a:r>
            <a:endParaRPr lang="en-US" sz="3200" dirty="0"/>
          </a:p>
        </p:txBody>
      </p:sp>
      <p:pic>
        <p:nvPicPr>
          <p:cNvPr id="4" name="Image 0" descr="/tmp/assets/out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320040"/>
            <a:ext cx="777240" cy="4522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67665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664208"/>
            <a:ext cx="685800" cy="6858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1828800"/>
            <a:ext cx="356616" cy="35661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91640" y="15270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Visiteur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1691640" y="19202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 · Créer un compte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48640" y="2743200"/>
            <a:ext cx="67665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77240" y="2990088"/>
            <a:ext cx="685800" cy="6858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3154680"/>
            <a:ext cx="356616" cy="35661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91640" y="2852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Producteur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1691640" y="32461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Exploitations · Cultures · Planification · Sol · Diagnostic · Prédictions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548640" y="4069080"/>
            <a:ext cx="67665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77240" y="4315968"/>
            <a:ext cx="685800" cy="6858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4480560"/>
            <a:ext cx="356616" cy="35661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91640" y="41788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Administrateur</a:t>
            </a:r>
            <a:endParaRPr lang="en-US" sz="1900" dirty="0"/>
          </a:p>
        </p:txBody>
      </p:sp>
      <p:sp>
        <p:nvSpPr>
          <p:cNvPr id="20" name="Text 14"/>
          <p:cNvSpPr txBox="1"/>
          <p:nvPr/>
        </p:nvSpPr>
        <p:spPr>
          <a:xfrm>
            <a:off x="1691640" y="45720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· Tableau de bord · Mises à jour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548640" y="5440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externes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548640" y="5806440"/>
            <a:ext cx="1417320" cy="411480"/>
          </a:xfrm>
          <a:prstGeom prst="roundRect">
            <a:avLst>
              <a:gd name="adj" fmla="val 48889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548640" y="58064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2103120" y="5806440"/>
            <a:ext cx="1097280" cy="411480"/>
          </a:xfrm>
          <a:prstGeom prst="roundRect">
            <a:avLst>
              <a:gd name="adj" fmla="val 48889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2103120" y="58064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3337560" y="5806440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3337560" y="5806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4846320" y="5806440"/>
            <a:ext cx="2148840" cy="411480"/>
          </a:xfrm>
          <a:prstGeom prst="roundRect">
            <a:avLst>
              <a:gd name="adj" fmla="val 48889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4846320" y="58064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IA de prédiction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7866837" y="1234440"/>
            <a:ext cx="3834485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31" name="Image 4" descr="/tmp/assets/out/useca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6837" y="1234440"/>
            <a:ext cx="3834485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DÉMARCHE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Méthodologie</a:t>
            </a:r>
            <a:endParaRPr lang="en-US" sz="3200" dirty="0"/>
          </a:p>
        </p:txBody>
      </p:sp>
      <p:pic>
        <p:nvPicPr>
          <p:cNvPr id="4" name="Image 0" descr="/tmp/assets/out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320040"/>
            <a:ext cx="777240" cy="4522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2103120"/>
            <a:ext cx="731520" cy="73152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5" y="2278685"/>
            <a:ext cx="380390" cy="38039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828800" y="1737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</a:t>
            </a:r>
            <a:endParaRPr lang="en-US" sz="3000" dirty="0"/>
          </a:p>
        </p:txBody>
      </p:sp>
      <p:sp>
        <p:nvSpPr>
          <p:cNvPr id="10" name="Text 6"/>
          <p:cNvSpPr txBox="1"/>
          <p:nvPr/>
        </p:nvSpPr>
        <p:spPr>
          <a:xfrm>
            <a:off x="1828800" y="23774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Langage de modélisation retenu (face à MERISE)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943600" y="1554480"/>
            <a:ext cx="56692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217920" y="2103120"/>
            <a:ext cx="731520" cy="73152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485" y="2278685"/>
            <a:ext cx="380390" cy="38039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223760" y="1737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AUP</a:t>
            </a:r>
            <a:endParaRPr lang="en-US" sz="3000" dirty="0"/>
          </a:p>
        </p:txBody>
      </p:sp>
      <p:sp>
        <p:nvSpPr>
          <p:cNvPr id="15" name="Text 10"/>
          <p:cNvSpPr txBox="1"/>
          <p:nvPr/>
        </p:nvSpPr>
        <p:spPr>
          <a:xfrm>
            <a:off x="7223760" y="23774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Unified Process : itératif et incrémental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548640" y="4023360"/>
            <a:ext cx="2834640" cy="1097280"/>
          </a:xfrm>
          <a:prstGeom prst="chevron">
            <a:avLst/>
          </a:prstGeom>
          <a:solidFill>
            <a:srgbClr val="1B5E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1051560" y="41148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Inception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5349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Vision, acteurs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3337560" y="4023360"/>
            <a:ext cx="2834640" cy="1097280"/>
          </a:xfrm>
          <a:prstGeom prst="chevron">
            <a:avLst/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3840480" y="41148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Élaboration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3520440" y="5349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Besoins, architecture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6126480" y="4023360"/>
            <a:ext cx="2834640" cy="1097280"/>
          </a:xfrm>
          <a:prstGeom prst="chevron">
            <a:avLst/>
          </a:prstGeom>
          <a:solidFill>
            <a:srgbClr val="43A0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629400" y="41148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</a:t>
            </a:r>
            <a:endParaRPr lang="en-US" sz="1700" dirty="0"/>
          </a:p>
        </p:txBody>
      </p:sp>
      <p:sp>
        <p:nvSpPr>
          <p:cNvPr id="24" name="Text 19"/>
          <p:cNvSpPr txBox="1"/>
          <p:nvPr/>
        </p:nvSpPr>
        <p:spPr>
          <a:xfrm>
            <a:off x="6309360" y="5349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8915400" y="4023360"/>
            <a:ext cx="2834640" cy="1097280"/>
          </a:xfrm>
          <a:prstGeom prst="chevron">
            <a:avLst/>
          </a:prstGeom>
          <a:solidFill>
            <a:srgbClr val="66BB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9418320" y="41148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</a:t>
            </a:r>
            <a:endParaRPr lang="en-US" sz="1700" dirty="0"/>
          </a:p>
        </p:txBody>
      </p:sp>
      <p:sp>
        <p:nvSpPr>
          <p:cNvPr id="27" name="Text 22"/>
          <p:cNvSpPr txBox="1"/>
          <p:nvPr/>
        </p:nvSpPr>
        <p:spPr>
          <a:xfrm>
            <a:off x="9098280" y="5349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déploiement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ET CONCEPTION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Modélisation UML</a:t>
            </a:r>
            <a:endParaRPr lang="en-US" sz="3200" dirty="0"/>
          </a:p>
        </p:txBody>
      </p:sp>
      <p:pic>
        <p:nvPicPr>
          <p:cNvPr id="4" name="Image 0" descr="/tmp/assets/out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320040"/>
            <a:ext cx="777240" cy="4522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3474720" cy="54864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5544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48640" y="2331720"/>
            <a:ext cx="34747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2468880"/>
            <a:ext cx="594360" cy="59436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166" y="2611526"/>
            <a:ext cx="309067" cy="30906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08760" y="23317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d’utilisation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548640" y="3337560"/>
            <a:ext cx="34747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3617366"/>
            <a:ext cx="309067" cy="30906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08760" y="33375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548640" y="4343400"/>
            <a:ext cx="34747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31520" y="4480560"/>
            <a:ext cx="594360" cy="59436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66" y="4623206"/>
            <a:ext cx="309067" cy="30906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508760" y="43434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Séquence</a:t>
            </a:r>
            <a:endParaRPr lang="en-US" sz="1700" dirty="0"/>
          </a:p>
        </p:txBody>
      </p:sp>
      <p:sp>
        <p:nvSpPr>
          <p:cNvPr id="20" name="Shape 14"/>
          <p:cNvSpPr/>
          <p:nvPr/>
        </p:nvSpPr>
        <p:spPr>
          <a:xfrm>
            <a:off x="548640" y="5349240"/>
            <a:ext cx="34747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31520" y="5486400"/>
            <a:ext cx="594360" cy="59436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166" y="5629046"/>
            <a:ext cx="309067" cy="30906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508760" y="53492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</a:t>
            </a:r>
            <a:endParaRPr lang="en-US" sz="1700" dirty="0"/>
          </a:p>
        </p:txBody>
      </p:sp>
      <p:sp>
        <p:nvSpPr>
          <p:cNvPr id="24" name="Shape 17"/>
          <p:cNvSpPr/>
          <p:nvPr/>
        </p:nvSpPr>
        <p:spPr>
          <a:xfrm>
            <a:off x="4297680" y="1554480"/>
            <a:ext cx="3474720" cy="548640"/>
          </a:xfrm>
          <a:prstGeom prst="roundRect">
            <a:avLst>
              <a:gd name="adj" fmla="val 50000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4297680" y="15544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Conception</a:t>
            </a:r>
            <a:endParaRPr lang="en-US" sz="1900" dirty="0"/>
          </a:p>
        </p:txBody>
      </p:sp>
      <p:sp>
        <p:nvSpPr>
          <p:cNvPr id="26" name="Shape 19"/>
          <p:cNvSpPr/>
          <p:nvPr/>
        </p:nvSpPr>
        <p:spPr>
          <a:xfrm>
            <a:off x="4297680" y="2331720"/>
            <a:ext cx="34747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480560" y="2468880"/>
            <a:ext cx="594360" cy="59436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3206" y="2611526"/>
            <a:ext cx="309067" cy="309067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257800" y="23317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700" dirty="0"/>
          </a:p>
        </p:txBody>
      </p:sp>
      <p:sp>
        <p:nvSpPr>
          <p:cNvPr id="30" name="Shape 22"/>
          <p:cNvSpPr/>
          <p:nvPr/>
        </p:nvSpPr>
        <p:spPr>
          <a:xfrm>
            <a:off x="4297680" y="3337560"/>
            <a:ext cx="34747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4480560" y="3474720"/>
            <a:ext cx="594360" cy="59436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3206" y="3617366"/>
            <a:ext cx="309067" cy="309067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5257800" y="33375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État-transition</a:t>
            </a:r>
            <a:endParaRPr lang="en-US" sz="1700" dirty="0"/>
          </a:p>
        </p:txBody>
      </p:sp>
      <p:sp>
        <p:nvSpPr>
          <p:cNvPr id="34" name="Shape 25"/>
          <p:cNvSpPr/>
          <p:nvPr/>
        </p:nvSpPr>
        <p:spPr>
          <a:xfrm>
            <a:off x="4297680" y="4343400"/>
            <a:ext cx="34747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5" name="Shape 26"/>
          <p:cNvSpPr/>
          <p:nvPr/>
        </p:nvSpPr>
        <p:spPr>
          <a:xfrm>
            <a:off x="4480560" y="4480560"/>
            <a:ext cx="594360" cy="59436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3206" y="4623206"/>
            <a:ext cx="309067" cy="309067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5257800" y="43434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Paquetage</a:t>
            </a:r>
            <a:endParaRPr lang="en-US" sz="1700" dirty="0"/>
          </a:p>
        </p:txBody>
      </p:sp>
      <p:sp>
        <p:nvSpPr>
          <p:cNvPr id="38" name="Shape 28"/>
          <p:cNvSpPr/>
          <p:nvPr/>
        </p:nvSpPr>
        <p:spPr>
          <a:xfrm>
            <a:off x="8046720" y="1554480"/>
            <a:ext cx="3474720" cy="548640"/>
          </a:xfrm>
          <a:prstGeom prst="roundRect">
            <a:avLst>
              <a:gd name="adj" fmla="val 50000"/>
            </a:avLst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9" name="Text 29"/>
          <p:cNvSpPr txBox="1"/>
          <p:nvPr/>
        </p:nvSpPr>
        <p:spPr>
          <a:xfrm>
            <a:off x="8046720" y="15544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Réalisation</a:t>
            </a:r>
            <a:endParaRPr lang="en-US" sz="1900" dirty="0"/>
          </a:p>
        </p:txBody>
      </p:sp>
      <p:sp>
        <p:nvSpPr>
          <p:cNvPr id="40" name="Shape 30"/>
          <p:cNvSpPr/>
          <p:nvPr/>
        </p:nvSpPr>
        <p:spPr>
          <a:xfrm>
            <a:off x="8046720" y="2331720"/>
            <a:ext cx="34747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41" name="Shape 31"/>
          <p:cNvSpPr/>
          <p:nvPr/>
        </p:nvSpPr>
        <p:spPr>
          <a:xfrm>
            <a:off x="8229600" y="2468880"/>
            <a:ext cx="594360" cy="59436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72246" y="2611526"/>
            <a:ext cx="309067" cy="309067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9006840" y="23317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1700" dirty="0"/>
          </a:p>
        </p:txBody>
      </p:sp>
      <p:sp>
        <p:nvSpPr>
          <p:cNvPr id="44" name="Shape 33"/>
          <p:cNvSpPr/>
          <p:nvPr/>
        </p:nvSpPr>
        <p:spPr>
          <a:xfrm>
            <a:off x="8046720" y="3337560"/>
            <a:ext cx="34747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45" name="Shape 34"/>
          <p:cNvSpPr/>
          <p:nvPr/>
        </p:nvSpPr>
        <p:spPr>
          <a:xfrm>
            <a:off x="8229600" y="3474720"/>
            <a:ext cx="594360" cy="59436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4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72246" y="3617366"/>
            <a:ext cx="309067" cy="309067"/>
          </a:xfrm>
          <a:prstGeom prst="rect">
            <a:avLst/>
          </a:prstGeom>
        </p:spPr>
      </p:pic>
      <p:sp>
        <p:nvSpPr>
          <p:cNvPr id="47" name="Text 35"/>
          <p:cNvSpPr txBox="1"/>
          <p:nvPr/>
        </p:nvSpPr>
        <p:spPr>
          <a:xfrm>
            <a:off x="9006840" y="33375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Diagramme de classes</a:t>
            </a:r>
            <a:endParaRPr lang="en-US" sz="3200" dirty="0"/>
          </a:p>
        </p:txBody>
      </p:sp>
      <p:pic>
        <p:nvPicPr>
          <p:cNvPr id="4" name="Image 0" descr="/tmp/assets/out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320040"/>
            <a:ext cx="777240" cy="4522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4937760" cy="438912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46304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011680"/>
            <a:ext cx="4937760" cy="438912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01168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Producteur · Administrateur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2560320"/>
            <a:ext cx="4937760" cy="438912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56032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3108960"/>
            <a:ext cx="4937760" cy="438912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310896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3657600"/>
            <a:ext cx="4937760" cy="438912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36576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48640" y="4206240"/>
            <a:ext cx="4937760" cy="438912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420624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AnalyseSol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48640" y="4754880"/>
            <a:ext cx="4937760" cy="438912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8640" y="475488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DiagnosticPhytosanitaire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48640" y="5303520"/>
            <a:ext cx="4937760" cy="438912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530352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PredictionRecolte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48640" y="5852160"/>
            <a:ext cx="4937760" cy="438912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" y="585216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6101335" y="1280160"/>
            <a:ext cx="526237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25" name="Image 1" descr="/tmp/assets/out/class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1335" y="1280160"/>
            <a:ext cx="526237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 la solution</a:t>
            </a:r>
            <a:endParaRPr lang="en-US" sz="3200" dirty="0"/>
          </a:p>
        </p:txBody>
      </p:sp>
      <p:pic>
        <p:nvPicPr>
          <p:cNvPr id="4" name="Image 0" descr="/tmp/assets/out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320040"/>
            <a:ext cx="777240" cy="4522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429896"/>
            <a:ext cx="8595360" cy="3815328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7" name="Image 1" descr="/tmp/assets/out/deplo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29896"/>
            <a:ext cx="8595360" cy="381532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418320" y="1463040"/>
            <a:ext cx="22860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9555480" y="1737360"/>
            <a:ext cx="640080" cy="64008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9099" y="1890979"/>
            <a:ext cx="332842" cy="33284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287000" y="146304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9418320" y="2834640"/>
            <a:ext cx="22860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9555480" y="3108960"/>
            <a:ext cx="640080" cy="64008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9099" y="3262579"/>
            <a:ext cx="332842" cy="33284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287000" y="283464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Applicative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9418320" y="4206240"/>
            <a:ext cx="22860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9555480" y="4480560"/>
            <a:ext cx="640080" cy="64008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9099" y="4634179"/>
            <a:ext cx="332842" cy="33284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0287000" y="420624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500" dirty="0"/>
          </a:p>
        </p:txBody>
      </p:sp>
      <p:sp>
        <p:nvSpPr>
          <p:cNvPr id="20" name="Shape 13"/>
          <p:cNvSpPr/>
          <p:nvPr/>
        </p:nvSpPr>
        <p:spPr>
          <a:xfrm>
            <a:off x="548640" y="5577840"/>
            <a:ext cx="2651760" cy="54864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548640" y="5577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n-tiers</a:t>
            </a:r>
            <a:endParaRPr lang="en-US" sz="1500" dirty="0"/>
          </a:p>
        </p:txBody>
      </p:sp>
      <p:sp>
        <p:nvSpPr>
          <p:cNvPr id="22" name="Shape 15"/>
          <p:cNvSpPr/>
          <p:nvPr/>
        </p:nvSpPr>
        <p:spPr>
          <a:xfrm>
            <a:off x="3383280" y="5577840"/>
            <a:ext cx="2651760" cy="54864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3383280" y="5577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6217920" y="5577840"/>
            <a:ext cx="2651760" cy="54864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6217920" y="5577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500" dirty="0"/>
          </a:p>
        </p:txBody>
      </p:sp>
      <p:sp>
        <p:nvSpPr>
          <p:cNvPr id="26" name="Shape 19"/>
          <p:cNvSpPr/>
          <p:nvPr/>
        </p:nvSpPr>
        <p:spPr>
          <a:xfrm>
            <a:off x="9052560" y="5577840"/>
            <a:ext cx="2651760" cy="54864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9052560" y="5577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Mots de passe cryptés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utilisées</a:t>
            </a:r>
            <a:endParaRPr lang="en-US" sz="3200" dirty="0"/>
          </a:p>
        </p:txBody>
      </p:sp>
      <p:pic>
        <p:nvPicPr>
          <p:cNvPr id="4" name="Image 0" descr="/tmp/assets/out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320040"/>
            <a:ext cx="777240" cy="4522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965960"/>
            <a:ext cx="34747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40"/>
            <a:ext cx="640080" cy="6400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37360" y="19659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548640" y="3108960"/>
            <a:ext cx="34747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91840"/>
            <a:ext cx="640080" cy="6400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1089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900" dirty="0"/>
          </a:p>
        </p:txBody>
      </p:sp>
      <p:sp>
        <p:nvSpPr>
          <p:cNvPr id="13" name="Shape 8"/>
          <p:cNvSpPr/>
          <p:nvPr/>
        </p:nvSpPr>
        <p:spPr>
          <a:xfrm>
            <a:off x="548640" y="4251960"/>
            <a:ext cx="34747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434840"/>
            <a:ext cx="640080" cy="64008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737360" y="42519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TailwindCSS</a:t>
            </a:r>
            <a:endParaRPr lang="en-US" sz="1900" dirty="0"/>
          </a:p>
        </p:txBody>
      </p:sp>
      <p:sp>
        <p:nvSpPr>
          <p:cNvPr id="16" name="Text 10"/>
          <p:cNvSpPr txBox="1"/>
          <p:nvPr/>
        </p:nvSpPr>
        <p:spPr>
          <a:xfrm>
            <a:off x="429768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4297680" y="1965960"/>
            <a:ext cx="34747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2148840"/>
            <a:ext cx="640080" cy="64008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486400" y="19659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900" dirty="0"/>
          </a:p>
        </p:txBody>
      </p:sp>
      <p:sp>
        <p:nvSpPr>
          <p:cNvPr id="20" name="Shape 13"/>
          <p:cNvSpPr/>
          <p:nvPr/>
        </p:nvSpPr>
        <p:spPr>
          <a:xfrm>
            <a:off x="4297680" y="3108960"/>
            <a:ext cx="34747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291840"/>
            <a:ext cx="640080" cy="64008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5486400" y="31089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900" dirty="0"/>
          </a:p>
        </p:txBody>
      </p:sp>
      <p:sp>
        <p:nvSpPr>
          <p:cNvPr id="23" name="Shape 15"/>
          <p:cNvSpPr/>
          <p:nvPr/>
        </p:nvSpPr>
        <p:spPr>
          <a:xfrm>
            <a:off x="4297680" y="4251960"/>
            <a:ext cx="34747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4434840"/>
            <a:ext cx="640080" cy="64008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5486400" y="42519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1900" dirty="0"/>
          </a:p>
        </p:txBody>
      </p:sp>
      <p:sp>
        <p:nvSpPr>
          <p:cNvPr id="26" name="Text 17"/>
          <p:cNvSpPr txBox="1"/>
          <p:nvPr/>
        </p:nvSpPr>
        <p:spPr>
          <a:xfrm>
            <a:off x="804672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&amp; déploiement</a:t>
            </a:r>
            <a:endParaRPr lang="en-US" sz="1500" dirty="0"/>
          </a:p>
        </p:txBody>
      </p:sp>
      <p:sp>
        <p:nvSpPr>
          <p:cNvPr id="27" name="Shape 18"/>
          <p:cNvSpPr/>
          <p:nvPr/>
        </p:nvSpPr>
        <p:spPr>
          <a:xfrm>
            <a:off x="8046720" y="1965960"/>
            <a:ext cx="34747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1040" y="2148840"/>
            <a:ext cx="640080" cy="640080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9235440" y="19659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900" dirty="0"/>
          </a:p>
        </p:txBody>
      </p:sp>
      <p:sp>
        <p:nvSpPr>
          <p:cNvPr id="30" name="Shape 20"/>
          <p:cNvSpPr/>
          <p:nvPr/>
        </p:nvSpPr>
        <p:spPr>
          <a:xfrm>
            <a:off x="8046720" y="3108960"/>
            <a:ext cx="34747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1040" y="3291840"/>
            <a:ext cx="640080" cy="640080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9235440" y="31089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900" dirty="0"/>
          </a:p>
        </p:txBody>
      </p:sp>
      <p:sp>
        <p:nvSpPr>
          <p:cNvPr id="33" name="Shape 22"/>
          <p:cNvSpPr/>
          <p:nvPr/>
        </p:nvSpPr>
        <p:spPr>
          <a:xfrm>
            <a:off x="8046720" y="4251960"/>
            <a:ext cx="34747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21040" y="4434840"/>
            <a:ext cx="640080" cy="640080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9235440" y="42519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900" dirty="0"/>
          </a:p>
        </p:txBody>
      </p:sp>
      <p:sp>
        <p:nvSpPr>
          <p:cNvPr id="36" name="Text 24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: VS Code · Git / GitHub · Postman · Power AMC · GanttProject · Stitch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 et services externes</a:t>
            </a:r>
            <a:endParaRPr lang="en-US" sz="3200" dirty="0"/>
          </a:p>
        </p:txBody>
      </p:sp>
      <p:pic>
        <p:nvPicPr>
          <p:cNvPr id="4" name="Image 0" descr="/tmp/assets/out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320040"/>
            <a:ext cx="777240" cy="4522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3474720" cy="38404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645920" y="1828800"/>
            <a:ext cx="1280160" cy="1280160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158" y="2136038"/>
            <a:ext cx="665683" cy="66568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3337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Open-Meteo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3886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Météo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43891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des cultures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297680" y="1554480"/>
            <a:ext cx="3474720" cy="38404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394960" y="1828800"/>
            <a:ext cx="1280160" cy="12801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2198" y="2136038"/>
            <a:ext cx="665683" cy="66568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297680" y="3337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Maps</a:t>
            </a:r>
            <a:endParaRPr lang="en-US" sz="2400" dirty="0"/>
          </a:p>
        </p:txBody>
      </p:sp>
      <p:sp>
        <p:nvSpPr>
          <p:cNvPr id="16" name="Text 11"/>
          <p:cNvSpPr txBox="1"/>
          <p:nvPr/>
        </p:nvSpPr>
        <p:spPr>
          <a:xfrm>
            <a:off x="4297680" y="3886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Géolocalisation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4480560" y="43891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Localiser les exploitations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8046720" y="1554480"/>
            <a:ext cx="3474720" cy="38404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144000" y="1828800"/>
            <a:ext cx="1280160" cy="128016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1238" y="2136038"/>
            <a:ext cx="665683" cy="66568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046720" y="3337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2400" dirty="0"/>
          </a:p>
        </p:txBody>
      </p:sp>
      <p:sp>
        <p:nvSpPr>
          <p:cNvPr id="22" name="Text 16"/>
          <p:cNvSpPr txBox="1"/>
          <p:nvPr/>
        </p:nvSpPr>
        <p:spPr>
          <a:xfrm>
            <a:off x="8046720" y="3886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0" y="43891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et diagnostic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par API REST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4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INTELLIGENTES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artificielle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474720" cy="1005840"/>
          </a:xfrm>
          <a:prstGeom prst="roundRect">
            <a:avLst>
              <a:gd name="adj" fmla="val 1363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5D6A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86000"/>
            <a:ext cx="640080" cy="6400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21031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48640" y="3291840"/>
            <a:ext cx="3474720" cy="1005840"/>
          </a:xfrm>
          <a:prstGeom prst="roundRect">
            <a:avLst>
              <a:gd name="adj" fmla="val 1363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5D6A7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47472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45920" y="32918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</a:t>
            </a:r>
            <a:endParaRPr lang="en-US" sz="1900" dirty="0"/>
          </a:p>
        </p:txBody>
      </p:sp>
      <p:sp>
        <p:nvSpPr>
          <p:cNvPr id="11" name="Shape 7"/>
          <p:cNvSpPr/>
          <p:nvPr/>
        </p:nvSpPr>
        <p:spPr>
          <a:xfrm>
            <a:off x="548640" y="4480560"/>
            <a:ext cx="3474720" cy="1005840"/>
          </a:xfrm>
          <a:prstGeom prst="roundRect">
            <a:avLst>
              <a:gd name="adj" fmla="val 1363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5D6A7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663440"/>
            <a:ext cx="640080" cy="6400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45920" y="44805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agricoles</a:t>
            </a:r>
            <a:endParaRPr lang="en-US" sz="1900" dirty="0"/>
          </a:p>
        </p:txBody>
      </p:sp>
      <p:sp>
        <p:nvSpPr>
          <p:cNvPr id="14" name="Text 9"/>
          <p:cNvSpPr txBox="1"/>
          <p:nvPr/>
        </p:nvSpPr>
        <p:spPr>
          <a:xfrm>
            <a:off x="457200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572000" y="3108960"/>
            <a:ext cx="2743200" cy="1005840"/>
          </a:xfrm>
          <a:prstGeom prst="roundRect">
            <a:avLst>
              <a:gd name="adj" fmla="val 13636"/>
            </a:avLst>
          </a:prstGeom>
          <a:solidFill>
            <a:srgbClr val="2E7D32"/>
          </a:solidFill>
          <a:ln w="12700">
            <a:solidFill>
              <a:srgbClr val="A5D6A7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291840"/>
            <a:ext cx="640080" cy="6400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669280" y="31089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2400" dirty="0"/>
          </a:p>
        </p:txBody>
      </p:sp>
      <p:sp>
        <p:nvSpPr>
          <p:cNvPr id="18" name="Text 12"/>
          <p:cNvSpPr txBox="1"/>
          <p:nvPr/>
        </p:nvSpPr>
        <p:spPr>
          <a:xfrm>
            <a:off x="7863840" y="1554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SORTIES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7863840" y="2103120"/>
            <a:ext cx="3749040" cy="1005840"/>
          </a:xfrm>
          <a:prstGeom prst="roundRect">
            <a:avLst>
              <a:gd name="adj" fmla="val 1363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5D6A7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2286000"/>
            <a:ext cx="640080" cy="64008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961120" y="21031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1900" dirty="0"/>
          </a:p>
        </p:txBody>
      </p:sp>
      <p:sp>
        <p:nvSpPr>
          <p:cNvPr id="22" name="Shape 15"/>
          <p:cNvSpPr/>
          <p:nvPr/>
        </p:nvSpPr>
        <p:spPr>
          <a:xfrm>
            <a:off x="7863840" y="3291840"/>
            <a:ext cx="3749040" cy="1005840"/>
          </a:xfrm>
          <a:prstGeom prst="roundRect">
            <a:avLst>
              <a:gd name="adj" fmla="val 1363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5D6A7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3474720"/>
            <a:ext cx="640080" cy="64008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8961120" y="32918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</a:t>
            </a:r>
            <a:endParaRPr lang="en-US" sz="1900" dirty="0"/>
          </a:p>
        </p:txBody>
      </p:sp>
      <p:sp>
        <p:nvSpPr>
          <p:cNvPr id="25" name="Shape 17"/>
          <p:cNvSpPr/>
          <p:nvPr/>
        </p:nvSpPr>
        <p:spPr>
          <a:xfrm>
            <a:off x="7863840" y="4480560"/>
            <a:ext cx="3749040" cy="1005840"/>
          </a:xfrm>
          <a:prstGeom prst="roundRect">
            <a:avLst>
              <a:gd name="adj" fmla="val 1363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5D6A7"/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0" y="4663440"/>
            <a:ext cx="640080" cy="64008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8961120" y="44805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</a:t>
            </a:r>
            <a:endParaRPr lang="en-US" sz="19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0" y="3246120"/>
            <a:ext cx="365760" cy="365760"/>
          </a:xfrm>
          <a:prstGeom prst="rect">
            <a:avLst/>
          </a:prstGeom>
        </p:spPr>
      </p:pic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06640" y="3246120"/>
            <a:ext cx="365760" cy="365760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du sol · Diagnostic phytosanitaire · Prédiction des récoltes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 de l’application</a:t>
            </a:r>
            <a:endParaRPr lang="en-US" sz="3200" dirty="0"/>
          </a:p>
        </p:txBody>
      </p:sp>
      <p:pic>
        <p:nvPicPr>
          <p:cNvPr id="4" name="Image 0" descr="/tmp/assets/out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320040"/>
            <a:ext cx="777240" cy="4522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1134316" y="1371600"/>
            <a:ext cx="4772248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7" name="Image 1" descr="/tmp/assets/out/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316" y="1371600"/>
            <a:ext cx="4772248" cy="24688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271476" y="338328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271476" y="33832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712156" y="1371600"/>
            <a:ext cx="4772248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11" name="Image 2" descr="/tmp/assets/out/das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2156" y="1371600"/>
            <a:ext cx="4772248" cy="246888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849316" y="338328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849316" y="33832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1134316" y="4023360"/>
            <a:ext cx="4772248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15" name="Image 3" descr="/tmp/assets/out/farm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4316" y="4023360"/>
            <a:ext cx="4772248" cy="246888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1271476" y="603504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1271476" y="60350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exploitations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712156" y="4023360"/>
            <a:ext cx="4772248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19" name="Image 4" descr="/tmp/assets/out/soi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2156" y="4023360"/>
            <a:ext cx="4772248" cy="2468880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6849316" y="603504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6849316" y="60350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du sol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D’UTILISATION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Parcours utilisateur</a:t>
            </a:r>
            <a:endParaRPr lang="en-US" sz="3200" dirty="0"/>
          </a:p>
        </p:txBody>
      </p:sp>
      <p:pic>
        <p:nvPicPr>
          <p:cNvPr id="4" name="Image 0" descr="/tmp/assets/out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320040"/>
            <a:ext cx="777240" cy="4522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455772"/>
            <a:ext cx="3474720" cy="1797615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7" name="Image 1" descr="/tmp/assets/out/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55772"/>
            <a:ext cx="3474720" cy="179761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11480" y="1318612"/>
            <a:ext cx="457200" cy="457200"/>
          </a:xfrm>
          <a:prstGeom prst="ellipse">
            <a:avLst/>
          </a:prstGeom>
          <a:solidFill>
            <a:srgbClr val="F57C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11480" y="13186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3383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4297680" y="1455772"/>
            <a:ext cx="3474720" cy="1797615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12" name="Image 2" descr="/tmp/assets/out/regis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455772"/>
            <a:ext cx="3474720" cy="1797615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160520" y="1318612"/>
            <a:ext cx="457200" cy="457200"/>
          </a:xfrm>
          <a:prstGeom prst="ellipse">
            <a:avLst/>
          </a:prstGeom>
          <a:solidFill>
            <a:srgbClr val="F57C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4160520" y="13186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297680" y="3383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8046720" y="1570006"/>
            <a:ext cx="3474720" cy="1569147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17" name="Image 3" descr="/tmp/assets/out/log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570006"/>
            <a:ext cx="3474720" cy="1569147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7909560" y="1432846"/>
            <a:ext cx="457200" cy="457200"/>
          </a:xfrm>
          <a:prstGeom prst="ellipse">
            <a:avLst/>
          </a:prstGeom>
          <a:solidFill>
            <a:srgbClr val="F57C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7909560" y="143284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046720" y="3383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</a:t>
            </a:r>
            <a:endParaRPr lang="en-US" sz="1700" dirty="0"/>
          </a:p>
        </p:txBody>
      </p:sp>
      <p:sp>
        <p:nvSpPr>
          <p:cNvPr id="21" name="Shape 15"/>
          <p:cNvSpPr/>
          <p:nvPr/>
        </p:nvSpPr>
        <p:spPr>
          <a:xfrm>
            <a:off x="548640" y="3924652"/>
            <a:ext cx="3474720" cy="1797615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22" name="Image 4" descr="/tmp/assets/out/das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24652"/>
            <a:ext cx="3474720" cy="1797615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411480" y="3787492"/>
            <a:ext cx="457200" cy="457200"/>
          </a:xfrm>
          <a:prstGeom prst="ellipse">
            <a:avLst/>
          </a:prstGeom>
          <a:solidFill>
            <a:srgbClr val="F57C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411480" y="37874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548640" y="5852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</a:t>
            </a:r>
            <a:endParaRPr lang="en-US" sz="1700" dirty="0"/>
          </a:p>
        </p:txBody>
      </p:sp>
      <p:sp>
        <p:nvSpPr>
          <p:cNvPr id="26" name="Shape 19"/>
          <p:cNvSpPr/>
          <p:nvPr/>
        </p:nvSpPr>
        <p:spPr>
          <a:xfrm>
            <a:off x="4297680" y="3924652"/>
            <a:ext cx="3474720" cy="1797615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27" name="Image 5" descr="/tmp/assets/out/farm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0" y="3924652"/>
            <a:ext cx="3474720" cy="1797615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160520" y="3787492"/>
            <a:ext cx="457200" cy="457200"/>
          </a:xfrm>
          <a:prstGeom prst="ellipse">
            <a:avLst/>
          </a:prstGeom>
          <a:solidFill>
            <a:srgbClr val="F57C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4160520" y="37874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2"/>
          <p:cNvSpPr txBox="1"/>
          <p:nvPr/>
        </p:nvSpPr>
        <p:spPr>
          <a:xfrm>
            <a:off x="4297680" y="5852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Exploitations</a:t>
            </a:r>
            <a:endParaRPr lang="en-US" sz="1700" dirty="0"/>
          </a:p>
        </p:txBody>
      </p:sp>
      <p:sp>
        <p:nvSpPr>
          <p:cNvPr id="31" name="Shape 23"/>
          <p:cNvSpPr/>
          <p:nvPr/>
        </p:nvSpPr>
        <p:spPr>
          <a:xfrm>
            <a:off x="8046720" y="3924652"/>
            <a:ext cx="3474720" cy="1797615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32" name="Image 6" descr="/tmp/assets/out/soi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3924652"/>
            <a:ext cx="3474720" cy="1797615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7909560" y="3787492"/>
            <a:ext cx="457200" cy="457200"/>
          </a:xfrm>
          <a:prstGeom prst="ellipse">
            <a:avLst/>
          </a:prstGeom>
          <a:solidFill>
            <a:srgbClr val="F57C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25"/>
          <p:cNvSpPr txBox="1"/>
          <p:nvPr/>
        </p:nvSpPr>
        <p:spPr>
          <a:xfrm>
            <a:off x="7909560" y="37874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5" name="Text 26"/>
          <p:cNvSpPr txBox="1"/>
          <p:nvPr/>
        </p:nvSpPr>
        <p:spPr>
          <a:xfrm>
            <a:off x="8046720" y="5852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du sol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 FONCTIONNALITÉS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3200" dirty="0"/>
          </a:p>
        </p:txBody>
      </p:sp>
      <p:pic>
        <p:nvPicPr>
          <p:cNvPr id="4" name="Image 0" descr="/tmp/assets/out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320040"/>
            <a:ext cx="777240" cy="4522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39263" y="1828800"/>
            <a:ext cx="5013714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7" name="Image 1" descr="/tmp/assets/out/t_re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263" y="1828800"/>
            <a:ext cx="5013714" cy="3566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55823" y="1828800"/>
            <a:ext cx="5010593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9" name="Image 2" descr="/tmp/assets/out/t_lo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823" y="1828800"/>
            <a:ext cx="5010593" cy="356616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48640" y="137160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548640" y="13716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263640" y="137160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263640" y="13716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d’API avec Postman · inscription et connexion via Google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</a:t>
            </a:r>
            <a:endParaRPr lang="en-US" sz="3200" dirty="0"/>
          </a:p>
        </p:txBody>
      </p:sp>
      <p:pic>
        <p:nvPicPr>
          <p:cNvPr id="4" name="Image 0" descr="/tmp/assets/out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320040"/>
            <a:ext cx="777240" cy="4522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51206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85800" y="1554480"/>
            <a:ext cx="548640" cy="5486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474" y="1686154"/>
            <a:ext cx="285293" cy="28529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17320" y="14630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Exploitations et cultures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548640" y="2331720"/>
            <a:ext cx="51206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85800" y="2423160"/>
            <a:ext cx="548640" cy="5486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74" y="255483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17320" y="23317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agricole</a:t>
            </a:r>
            <a:endParaRPr lang="en-US" sz="1800" dirty="0"/>
          </a:p>
        </p:txBody>
      </p:sp>
      <p:sp>
        <p:nvSpPr>
          <p:cNvPr id="14" name="Shape 9"/>
          <p:cNvSpPr/>
          <p:nvPr/>
        </p:nvSpPr>
        <p:spPr>
          <a:xfrm>
            <a:off x="548640" y="3200400"/>
            <a:ext cx="51206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685800" y="3291840"/>
            <a:ext cx="548640" cy="5486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4" y="3423514"/>
            <a:ext cx="285293" cy="28529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417320" y="32004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du sol</a:t>
            </a:r>
            <a:endParaRPr lang="en-US" sz="1800" dirty="0"/>
          </a:p>
        </p:txBody>
      </p:sp>
      <p:sp>
        <p:nvSpPr>
          <p:cNvPr id="18" name="Shape 12"/>
          <p:cNvSpPr/>
          <p:nvPr/>
        </p:nvSpPr>
        <p:spPr>
          <a:xfrm>
            <a:off x="548640" y="4069080"/>
            <a:ext cx="51206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85800" y="4160520"/>
            <a:ext cx="548640" cy="5486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474" y="4292194"/>
            <a:ext cx="285293" cy="285293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417320" y="40690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phytosanitaire</a:t>
            </a:r>
            <a:endParaRPr lang="en-US" sz="1800" dirty="0"/>
          </a:p>
        </p:txBody>
      </p:sp>
      <p:sp>
        <p:nvSpPr>
          <p:cNvPr id="22" name="Shape 15"/>
          <p:cNvSpPr/>
          <p:nvPr/>
        </p:nvSpPr>
        <p:spPr>
          <a:xfrm>
            <a:off x="548640" y="4937760"/>
            <a:ext cx="51206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685800" y="5029200"/>
            <a:ext cx="548640" cy="5486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474" y="5160874"/>
            <a:ext cx="285293" cy="285293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417320" y="493776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et services externes</a:t>
            </a:r>
            <a:endParaRPr lang="en-US" sz="1800" dirty="0"/>
          </a:p>
        </p:txBody>
      </p:sp>
      <p:sp>
        <p:nvSpPr>
          <p:cNvPr id="26" name="Shape 18"/>
          <p:cNvSpPr/>
          <p:nvPr/>
        </p:nvSpPr>
        <p:spPr>
          <a:xfrm>
            <a:off x="6035040" y="1505324"/>
            <a:ext cx="5669280" cy="2932951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27" name="Image 6" descr="/tmp/assets/out/dash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5040" y="1505324"/>
            <a:ext cx="5669280" cy="2932951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035040" y="4800600"/>
            <a:ext cx="5669280" cy="1143000"/>
          </a:xfrm>
          <a:prstGeom prst="roundRect">
            <a:avLst>
              <a:gd name="adj" fmla="val 9600"/>
            </a:avLst>
          </a:prstGeom>
          <a:solidFill>
            <a:srgbClr val="1B5E20"/>
          </a:solidFill>
          <a:ln w="6350">
            <a:solidFill>
              <a:srgbClr val="1B5E2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9" name="Text 20"/>
          <p:cNvSpPr txBox="1"/>
          <p:nvPr/>
        </p:nvSpPr>
        <p:spPr>
          <a:xfrm>
            <a:off x="6217920" y="484632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2 398 044 FCFA</a:t>
            </a:r>
            <a:endParaRPr lang="en-US" sz="2600" dirty="0"/>
          </a:p>
        </p:txBody>
      </p:sp>
      <p:sp>
        <p:nvSpPr>
          <p:cNvPr id="30" name="Text 21"/>
          <p:cNvSpPr txBox="1"/>
          <p:nvPr/>
        </p:nvSpPr>
        <p:spPr>
          <a:xfrm>
            <a:off x="9326880" y="484632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global estimé (marge de 10 % incluse)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4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3108960"/>
          </a:xfrm>
          <a:prstGeom prst="roundRect">
            <a:avLst>
              <a:gd name="adj" fmla="val 441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2103120"/>
            <a:ext cx="1005840" cy="10058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4482" y="2344522"/>
            <a:ext cx="523037" cy="5230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33832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agricoles analysés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297680" y="1737360"/>
            <a:ext cx="3474720" cy="3108960"/>
          </a:xfrm>
          <a:prstGeom prst="roundRect">
            <a:avLst>
              <a:gd name="adj" fmla="val 441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532120" y="2103120"/>
            <a:ext cx="1005840" cy="10058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3522" y="2344522"/>
            <a:ext cx="523037" cy="52303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26280" y="33832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conçue et réalisée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8046720" y="1737360"/>
            <a:ext cx="3474720" cy="3108960"/>
          </a:xfrm>
          <a:prstGeom prst="roundRect">
            <a:avLst>
              <a:gd name="adj" fmla="val 441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9281160" y="2103120"/>
            <a:ext cx="1005840" cy="10058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2562" y="2344522"/>
            <a:ext cx="523037" cy="52303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275320" y="33832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en génie logiciel mobilisées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53035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Agrilink accompagne les producteurs dans leur prise de décision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Perspectives</a:t>
            </a:r>
            <a:endParaRPr lang="en-US" sz="3200" dirty="0"/>
          </a:p>
        </p:txBody>
      </p:sp>
      <p:pic>
        <p:nvPicPr>
          <p:cNvPr id="4" name="Image 0" descr="/tmp/assets/out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320040"/>
            <a:ext cx="777240" cy="4522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54406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2103120"/>
            <a:ext cx="731520" cy="73152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805" y="2278685"/>
            <a:ext cx="380390" cy="38039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45920" y="1828800"/>
            <a:ext cx="4160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Nouvelles cultures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6172200" y="1737360"/>
            <a:ext cx="54406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400800" y="2103120"/>
            <a:ext cx="731520" cy="73152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6365" y="2278685"/>
            <a:ext cx="380390" cy="38039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69480" y="1828800"/>
            <a:ext cx="4160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Nouvelles fonctionnalités</a:t>
            </a:r>
            <a:endParaRPr lang="en-US" sz="2000" dirty="0"/>
          </a:p>
        </p:txBody>
      </p:sp>
      <p:sp>
        <p:nvSpPr>
          <p:cNvPr id="14" name="Shape 9"/>
          <p:cNvSpPr/>
          <p:nvPr/>
        </p:nvSpPr>
        <p:spPr>
          <a:xfrm>
            <a:off x="548640" y="3474720"/>
            <a:ext cx="54406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777240" y="3840480"/>
            <a:ext cx="731520" cy="73152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805" y="4016045"/>
            <a:ext cx="380390" cy="38039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645920" y="3566160"/>
            <a:ext cx="4160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d’IA améliorés</a:t>
            </a:r>
            <a:endParaRPr lang="en-US" sz="2000" dirty="0"/>
          </a:p>
        </p:txBody>
      </p:sp>
      <p:sp>
        <p:nvSpPr>
          <p:cNvPr id="18" name="Shape 12"/>
          <p:cNvSpPr/>
          <p:nvPr/>
        </p:nvSpPr>
        <p:spPr>
          <a:xfrm>
            <a:off x="6172200" y="3474720"/>
            <a:ext cx="54406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3EC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400800" y="3840480"/>
            <a:ext cx="731520" cy="73152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6365" y="4016045"/>
            <a:ext cx="380390" cy="38039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269480" y="3566160"/>
            <a:ext cx="4160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Techniciens et conseillers agricoles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4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3108960"/>
            <a:ext cx="5486400" cy="5486400"/>
          </a:xfrm>
          <a:prstGeom prst="ellipse">
            <a:avLst/>
          </a:prstGeom>
          <a:solidFill>
            <a:srgbClr val="2E7D32">
              <a:alpha val="18000"/>
            </a:srgbClr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640080"/>
            <a:ext cx="2103120" cy="2103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/tmp/assets/out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188720"/>
            <a:ext cx="1371600" cy="79802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0175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 de votre attention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114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?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Agrilink · Plateforme intelligente pour une agriculture durable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Agrilink — Soutenance de stage</dc:title>
  <dc:subject>PptxGenJS Presentation</dc:subject>
  <dc:creator>PptxGenJS</dc:creator>
  <cp:lastModifiedBy>PptxGenJS</cp:lastModifiedBy>
  <cp:revision>1</cp:revision>
  <dcterms:created xsi:type="dcterms:W3CDTF">2026-09-23T21:23:39Z</dcterms:created>
  <dcterms:modified xsi:type="dcterms:W3CDTF">2026-09-23T21:23:39Z</dcterms:modified>
</cp:coreProperties>
</file>