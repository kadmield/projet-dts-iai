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69" r:id="rId15"/>
    <p:sldId id="270" r:id="rId16"/>
    <p:sldId id="271" r:id="rId17"/>
    <p:sldId id="275" r:id="rId18"/>
    <p:sldId id="276" r:id="rId19"/>
    <p:sldId id="277" r:id="rId20"/>
    <p:sldId id="278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3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57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Dear members of the jury, dear teachers, ladies and gentlemen,</a:t>
            </a:r>
          </a:p>
          <a:p>
            <a:r>
              <a:rPr lang="en-US" dirty="0"/>
              <a:t>Agriculture plays an important role in Cameroon, but farmers still face challenges in crop planning, farm monitoring, disease diagnosis, and harvest estimation.</a:t>
            </a:r>
          </a:p>
          <a:p>
            <a:r>
              <a:rPr lang="en-US" dirty="0"/>
              <a:t>To address these challenges, we </a:t>
            </a:r>
            <a:r>
              <a:rPr lang="en-US" dirty="0" err="1"/>
              <a:t>developpedAgriIntelli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9.png"/><Relationship Id="rId5" Type="http://schemas.openxmlformats.org/officeDocument/2006/relationships/image" Target="../media/image15.png"/><Relationship Id="rId10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0" Type="http://schemas.openxmlformats.org/officeDocument/2006/relationships/image" Target="../media/image46.png"/><Relationship Id="rId4" Type="http://schemas.openxmlformats.org/officeDocument/2006/relationships/image" Target="../media/image17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11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3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14.png"/><Relationship Id="rId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5306" y="130721"/>
            <a:ext cx="6570617" cy="6617208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335280" y="132588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Analyse, conception et réalisation d'une plateforme numérique intelligente pour la gestion des procédés agricoles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64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FIN DE STAGE 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28160"/>
            <a:ext cx="416154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r>
              <a:rPr lang="fr-FR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ésenté par : </a:t>
            </a:r>
            <a:endParaRPr lang="en-US" sz="1400" dirty="0">
              <a:solidFill>
                <a:srgbClr val="2632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SOPPO SONG Kadmiel Depaix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académique : </a:t>
            </a: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Mme BIDIMA EYENGA Dyna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professionnel : </a:t>
            </a: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TAGNE NJIMEFO Alex B</a:t>
            </a: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10275230" y="4533469"/>
            <a:ext cx="25824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 Sarl </a:t>
            </a:r>
            <a:endParaRPr lang="en-US" sz="1300" dirty="0"/>
          </a:p>
        </p:txBody>
      </p:sp>
      <p:pic>
        <p:nvPicPr>
          <p:cNvPr id="9" name="Image 1" descr="/tmp/assets/out/i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629" y="1381220"/>
            <a:ext cx="2236518" cy="1675010"/>
          </a:xfrm>
          <a:prstGeom prst="rect">
            <a:avLst/>
          </a:prstGeom>
        </p:spPr>
      </p:pic>
      <p:pic>
        <p:nvPicPr>
          <p:cNvPr id="10" name="Image 2" descr="/tmp/assets/out/dg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251" y="3884545"/>
            <a:ext cx="1802674" cy="1846489"/>
          </a:xfrm>
          <a:prstGeom prst="rect">
            <a:avLst/>
          </a:prstGeom>
        </p:spPr>
      </p:pic>
      <p:sp>
        <p:nvSpPr>
          <p:cNvPr id="17" name="Text 6">
            <a:extLst>
              <a:ext uri="{FF2B5EF4-FFF2-40B4-BE49-F238E27FC236}">
                <a16:creationId xmlns:a16="http://schemas.microsoft.com/office/drawing/2014/main" id="{49A85B38-BAE5-ED8E-D273-042EB9C31BD7}"/>
              </a:ext>
            </a:extLst>
          </p:cNvPr>
          <p:cNvSpPr txBox="1"/>
          <p:nvPr/>
        </p:nvSpPr>
        <p:spPr>
          <a:xfrm>
            <a:off x="10373530" y="1862109"/>
            <a:ext cx="23735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IAI-Cameroun</a:t>
            </a:r>
            <a:endParaRPr lang="en-US" sz="13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22A6766-DE91-D644-0A7E-2297C98AC317}"/>
              </a:ext>
            </a:extLst>
          </p:cNvPr>
          <p:cNvSpPr txBox="1"/>
          <p:nvPr/>
        </p:nvSpPr>
        <p:spPr>
          <a:xfrm>
            <a:off x="2529840" y="6096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Acad</a:t>
            </a:r>
            <a:r>
              <a:rPr lang="fr-FR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émique</a:t>
            </a: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2025 – 2026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SOMMAIRE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7432"/>
            <a:ext cx="1021557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8229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A5D6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286000" y="1828800"/>
            <a:ext cx="640080" cy="64008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619" y="19824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3355848" y="16459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 txBox="1"/>
          <p:nvPr/>
        </p:nvSpPr>
        <p:spPr>
          <a:xfrm>
            <a:off x="363016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A5D6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5093208" y="1828800"/>
            <a:ext cx="640080" cy="64008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6827" y="198241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30168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6163056" y="16459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3"/>
          <p:cNvSpPr txBox="1"/>
          <p:nvPr/>
        </p:nvSpPr>
        <p:spPr>
          <a:xfrm>
            <a:off x="6437376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A5D6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7900416" y="1828800"/>
            <a:ext cx="640080" cy="64008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4035" y="198241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37376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AgriIntelli</a:t>
            </a:r>
            <a:endParaRPr lang="en-US" sz="1900" dirty="0"/>
          </a:p>
        </p:txBody>
      </p:sp>
      <p:sp>
        <p:nvSpPr>
          <p:cNvPr id="22" name="Shape 16"/>
          <p:cNvSpPr/>
          <p:nvPr/>
        </p:nvSpPr>
        <p:spPr>
          <a:xfrm>
            <a:off x="8970264" y="16459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7"/>
          <p:cNvSpPr txBox="1"/>
          <p:nvPr/>
        </p:nvSpPr>
        <p:spPr>
          <a:xfrm>
            <a:off x="9244584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A5D6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18"/>
          <p:cNvSpPr/>
          <p:nvPr/>
        </p:nvSpPr>
        <p:spPr>
          <a:xfrm>
            <a:off x="10707624" y="1828800"/>
            <a:ext cx="640080" cy="64008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1243" y="198241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244584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&amp; conception</a:t>
            </a:r>
            <a:endParaRPr lang="en-US" sz="1900" dirty="0"/>
          </a:p>
        </p:txBody>
      </p:sp>
      <p:sp>
        <p:nvSpPr>
          <p:cNvPr id="27" name="Shape 20"/>
          <p:cNvSpPr/>
          <p:nvPr/>
        </p:nvSpPr>
        <p:spPr>
          <a:xfrm>
            <a:off x="548640" y="39319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1"/>
          <p:cNvSpPr txBox="1"/>
          <p:nvPr/>
        </p:nvSpPr>
        <p:spPr>
          <a:xfrm>
            <a:off x="82296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A5D6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Shape 22"/>
          <p:cNvSpPr/>
          <p:nvPr/>
        </p:nvSpPr>
        <p:spPr>
          <a:xfrm>
            <a:off x="3108960" y="4114800"/>
            <a:ext cx="640080" cy="64008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2579" y="4268419"/>
            <a:ext cx="332842" cy="33284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2296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900" dirty="0"/>
          </a:p>
        </p:txBody>
      </p:sp>
      <p:sp>
        <p:nvSpPr>
          <p:cNvPr id="32" name="Shape 24"/>
          <p:cNvSpPr/>
          <p:nvPr/>
        </p:nvSpPr>
        <p:spPr>
          <a:xfrm>
            <a:off x="4297680" y="39319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5"/>
          <p:cNvSpPr txBox="1"/>
          <p:nvPr/>
        </p:nvSpPr>
        <p:spPr>
          <a:xfrm>
            <a:off x="457200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A5D6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4" name="Shape 26"/>
          <p:cNvSpPr/>
          <p:nvPr/>
        </p:nvSpPr>
        <p:spPr>
          <a:xfrm>
            <a:off x="6858000" y="4114800"/>
            <a:ext cx="640080" cy="64008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1619" y="4268419"/>
            <a:ext cx="332842" cy="33284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57200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900" dirty="0"/>
          </a:p>
        </p:txBody>
      </p:sp>
      <p:sp>
        <p:nvSpPr>
          <p:cNvPr id="37" name="Shape 28"/>
          <p:cNvSpPr/>
          <p:nvPr/>
        </p:nvSpPr>
        <p:spPr>
          <a:xfrm>
            <a:off x="8046720" y="39319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29"/>
          <p:cNvSpPr txBox="1"/>
          <p:nvPr/>
        </p:nvSpPr>
        <p:spPr>
          <a:xfrm>
            <a:off x="832104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A5D6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9" name="Shape 30"/>
          <p:cNvSpPr/>
          <p:nvPr/>
        </p:nvSpPr>
        <p:spPr>
          <a:xfrm>
            <a:off x="10607040" y="4114800"/>
            <a:ext cx="640080" cy="64008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60659" y="4268419"/>
            <a:ext cx="332842" cy="33284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32104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3" grpId="0" animBg="1"/>
      <p:bldP spid="16" grpId="0" animBg="1"/>
      <p:bldP spid="18" grpId="0" animBg="1"/>
      <p:bldP spid="21" grpId="0" animBg="1"/>
      <p:bldP spid="23" grpId="0" animBg="1"/>
      <p:bldP spid="26" grpId="0" animBg="1"/>
      <p:bldP spid="28" grpId="0" animBg="1"/>
      <p:bldP spid="31" grpId="0" animBg="1"/>
      <p:bldP spid="33" grpId="0" animBg="1"/>
      <p:bldP spid="36" grpId="0" animBg="1"/>
      <p:bldP spid="38" grpId="0" animBg="1"/>
      <p:bldP spid="4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INTRODUCTION / CONTEXTE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1737360" y="2011680"/>
            <a:ext cx="1097280" cy="109728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707" y="2275027"/>
            <a:ext cx="570586" cy="57058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Agriculture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clé du Cameroun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3017520"/>
            <a:ext cx="228600" cy="228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297680" y="173736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5486400" y="2011680"/>
            <a:ext cx="1097280" cy="109728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9747" y="2275027"/>
            <a:ext cx="570586" cy="57058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29768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Numérique</a:t>
            </a:r>
            <a:endParaRPr lang="en-US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4480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et Internet accessibles</a:t>
            </a:r>
            <a:endParaRPr lang="en-US" sz="16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3017520"/>
            <a:ext cx="228600" cy="2286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046720" y="173736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3"/>
          <p:cNvSpPr/>
          <p:nvPr/>
        </p:nvSpPr>
        <p:spPr>
          <a:xfrm>
            <a:off x="9235440" y="2011680"/>
            <a:ext cx="1097280" cy="109728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8787" y="2275027"/>
            <a:ext cx="570586" cy="57058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04672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artificielle</a:t>
            </a:r>
            <a:endParaRPr lang="en-US" sz="2200" dirty="0"/>
          </a:p>
        </p:txBody>
      </p:sp>
      <p:sp>
        <p:nvSpPr>
          <p:cNvPr id="23" name="Text 15"/>
          <p:cNvSpPr txBox="1"/>
          <p:nvPr/>
        </p:nvSpPr>
        <p:spPr>
          <a:xfrm>
            <a:off x="822960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décision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plateforme pour gérer, planifier et décider</a:t>
            </a:r>
            <a:endParaRPr lang="en-US" sz="2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6" grpId="0" animBg="1"/>
      <p:bldP spid="17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STRUCTURE D’ACCUEIL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de DGC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6766560" cy="1280160"/>
          </a:xfrm>
          <a:prstGeom prst="roundRect">
            <a:avLst>
              <a:gd name="adj" fmla="val 8571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1" descr="/tmp/assets/out/dg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1005840" cy="10302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11680" y="1600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Generation Company SARL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2011680" y="2103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 au service de l’émergence de l’Afrique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017520"/>
            <a:ext cx="594360" cy="59436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3160166"/>
            <a:ext cx="309067" cy="309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0175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 le 17 juillet 2022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3794760"/>
            <a:ext cx="594360" cy="59436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" y="3937406"/>
            <a:ext cx="309067" cy="30906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37947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Étoug-Ébé (Montée Science), Yaoundé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548640" y="4572000"/>
            <a:ext cx="594360" cy="59436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286" y="4714646"/>
            <a:ext cx="309067" cy="30906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45720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 développement · Direction des projets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548640" y="54589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4"/>
          <p:cNvSpPr txBox="1"/>
          <p:nvPr/>
        </p:nvSpPr>
        <p:spPr>
          <a:xfrm>
            <a:off x="548640" y="5458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sites web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2834640" y="54589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6"/>
          <p:cNvSpPr txBox="1"/>
          <p:nvPr/>
        </p:nvSpPr>
        <p:spPr>
          <a:xfrm>
            <a:off x="2834640" y="5458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Infographie &amp; design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120640" y="54589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18"/>
          <p:cNvSpPr txBox="1"/>
          <p:nvPr/>
        </p:nvSpPr>
        <p:spPr>
          <a:xfrm>
            <a:off x="5120640" y="5458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&amp; sécurité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48640" y="59161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0"/>
          <p:cNvSpPr txBox="1"/>
          <p:nvPr/>
        </p:nvSpPr>
        <p:spPr>
          <a:xfrm>
            <a:off x="548640" y="5916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834640" y="59161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2"/>
          <p:cNvSpPr txBox="1"/>
          <p:nvPr/>
        </p:nvSpPr>
        <p:spPr>
          <a:xfrm>
            <a:off x="2834640" y="5916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680960" y="1967487"/>
            <a:ext cx="4023360" cy="3197346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1" name="Image 5" descr="/tmp/assets/out/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1967487"/>
            <a:ext cx="4023360" cy="319734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680960" y="5760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siège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6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CONTEXTE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enjeux agricoles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54864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18,5 %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PIB (2024)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297680" y="155448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 txBox="1"/>
          <p:nvPr/>
        </p:nvSpPr>
        <p:spPr>
          <a:xfrm>
            <a:off x="429768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42,4 %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active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046720" y="155448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 txBox="1"/>
          <p:nvPr/>
        </p:nvSpPr>
        <p:spPr>
          <a:xfrm>
            <a:off x="80467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57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40 %</a:t>
            </a:r>
            <a:endParaRPr lang="en-US" sz="5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pertes sur certaines productions (FAO)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Procédés agricoles à organiser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" y="4952390"/>
            <a:ext cx="427939" cy="427939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2807208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4718" y="4952390"/>
            <a:ext cx="427939" cy="427939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721608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5065776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3286" y="4952390"/>
            <a:ext cx="427939" cy="42793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980176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7324344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1854" y="4952390"/>
            <a:ext cx="427939" cy="427939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238744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Traitements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9582912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0422" y="4952390"/>
            <a:ext cx="427939" cy="427939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497312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Récolte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9" grpId="0" animBg="1"/>
      <p:bldP spid="22" grpId="0" animBg="1"/>
      <p:bldP spid="25" grpId="0" animBg="1"/>
      <p:bldP spid="28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CONSTAT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Problèmes identifiés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08483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7240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traditionnelle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3355848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3584448" y="1920240"/>
            <a:ext cx="685800" cy="68580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08483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84448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Maladies détectées trop tard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163056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6391656" y="1920240"/>
            <a:ext cx="685800" cy="68580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084832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91656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 imprévisibles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8970264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9198864" y="1920240"/>
            <a:ext cx="685800" cy="68580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456" y="2084832"/>
            <a:ext cx="356616" cy="35661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198864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techniques peu fiables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548640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7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" y="4187952"/>
            <a:ext cx="356616" cy="35661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77240" y="4754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cultures limité</a:t>
            </a:r>
            <a:endParaRPr lang="en-US" sz="1700" dirty="0"/>
          </a:p>
        </p:txBody>
      </p:sp>
      <p:sp>
        <p:nvSpPr>
          <p:cNvPr id="27" name="Shape 19"/>
          <p:cNvSpPr/>
          <p:nvPr/>
        </p:nvSpPr>
        <p:spPr>
          <a:xfrm>
            <a:off x="4297680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0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0872" y="4187952"/>
            <a:ext cx="356616" cy="35661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526280" y="4754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Aléas climatiques</a:t>
            </a:r>
            <a:endParaRPr lang="en-US" sz="1700" dirty="0"/>
          </a:p>
        </p:txBody>
      </p:sp>
      <p:sp>
        <p:nvSpPr>
          <p:cNvPr id="31" name="Shape 22"/>
          <p:cNvSpPr/>
          <p:nvPr/>
        </p:nvSpPr>
        <p:spPr>
          <a:xfrm>
            <a:off x="8046720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3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9912" y="4187952"/>
            <a:ext cx="356616" cy="35661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8275320" y="4754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existantes peu adaptées</a:t>
            </a:r>
            <a:endParaRPr lang="en-US" sz="17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8" grpId="0" animBg="1"/>
      <p:bldP spid="22" grpId="0" animBg="1"/>
      <p:bldP spid="26" grpId="0" animBg="1"/>
      <p:bldP spid="30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QUESTION CENTRALE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88720" cy="11887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3" y="2022653"/>
            <a:ext cx="618134" cy="61813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03120" y="164592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Comment améliorer la gestion, la planification et le suivi des procédés agricoles tout en facilitant la prise de décision des producteurs ? »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548640" y="4572000"/>
            <a:ext cx="2606040" cy="1005840"/>
          </a:xfrm>
          <a:prstGeom prst="roundRect">
            <a:avLst>
              <a:gd name="adj" fmla="val 13636"/>
            </a:avLst>
          </a:prstGeom>
          <a:solidFill>
            <a:srgbClr val="F1F8F2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8463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4572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3383280" y="4572000"/>
            <a:ext cx="2606040" cy="1005840"/>
          </a:xfrm>
          <a:prstGeom prst="roundRect">
            <a:avLst>
              <a:gd name="adj" fmla="val 13636"/>
            </a:avLst>
          </a:prstGeom>
          <a:solidFill>
            <a:srgbClr val="F1F8F2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8463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297680" y="4572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6217920" y="4572000"/>
            <a:ext cx="2606040" cy="1005840"/>
          </a:xfrm>
          <a:prstGeom prst="roundRect">
            <a:avLst>
              <a:gd name="adj" fmla="val 13636"/>
            </a:avLst>
          </a:prstGeom>
          <a:solidFill>
            <a:srgbClr val="F1F8F2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84632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132320" y="4572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9052560" y="4572000"/>
            <a:ext cx="2606040" cy="1005840"/>
          </a:xfrm>
          <a:prstGeom prst="roundRect">
            <a:avLst>
              <a:gd name="adj" fmla="val 13636"/>
            </a:avLst>
          </a:prstGeom>
          <a:solidFill>
            <a:srgbClr val="F1F8F2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4846320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966960" y="4572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20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5" grpId="0" animBg="1"/>
      <p:bldP spid="18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365760"/>
            <a:ext cx="5120640" cy="6126480"/>
          </a:xfrm>
          <a:prstGeom prst="roundRect">
            <a:avLst>
              <a:gd name="adj" fmla="val 5357"/>
            </a:avLst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1371600" cy="79802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SOLUTION PROPOSÉE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432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AgriIntelli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490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numérique et intelligente de gestion des procédés agricoles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50292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548640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14600" y="50292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2514600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480560" y="50292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4480560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49440" y="905738"/>
            <a:ext cx="4572000" cy="50465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5" name="Image 1" descr="/tmp/assets/out/maqu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905738"/>
            <a:ext cx="4572000" cy="504652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SOLUTION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principales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777240" y="17145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189006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16459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Exploitations, parcelles, cultures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172200" y="1554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6400800" y="17145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365" y="189006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69480" y="16459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activités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7432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777240" y="29032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5" y="3078785"/>
            <a:ext cx="380390" cy="38039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45920" y="28346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opérations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6172200" y="27432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6400800" y="29032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6365" y="3078785"/>
            <a:ext cx="380390" cy="38039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69480" y="28346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Intrants et ressources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548640" y="39319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7"/>
          <p:cNvSpPr/>
          <p:nvPr/>
        </p:nvSpPr>
        <p:spPr>
          <a:xfrm>
            <a:off x="777240" y="40919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805" y="4267505"/>
            <a:ext cx="380390" cy="38039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645920" y="40233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phytosanitaire IA</a:t>
            </a:r>
            <a:endParaRPr lang="en-US" sz="1700" dirty="0"/>
          </a:p>
        </p:txBody>
      </p:sp>
      <p:sp>
        <p:nvSpPr>
          <p:cNvPr id="27" name="Shape 19"/>
          <p:cNvSpPr/>
          <p:nvPr/>
        </p:nvSpPr>
        <p:spPr>
          <a:xfrm>
            <a:off x="6172200" y="39319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0"/>
          <p:cNvSpPr/>
          <p:nvPr/>
        </p:nvSpPr>
        <p:spPr>
          <a:xfrm>
            <a:off x="6400800" y="40919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6365" y="4267505"/>
            <a:ext cx="380390" cy="38039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269480" y="40233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et prédiction</a:t>
            </a:r>
            <a:endParaRPr lang="en-US" sz="1700" dirty="0"/>
          </a:p>
        </p:txBody>
      </p:sp>
      <p:sp>
        <p:nvSpPr>
          <p:cNvPr id="31" name="Shape 22"/>
          <p:cNvSpPr/>
          <p:nvPr/>
        </p:nvSpPr>
        <p:spPr>
          <a:xfrm>
            <a:off x="548640" y="51206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3"/>
          <p:cNvSpPr/>
          <p:nvPr/>
        </p:nvSpPr>
        <p:spPr>
          <a:xfrm>
            <a:off x="777240" y="52806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805" y="5456225"/>
            <a:ext cx="380390" cy="38039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645920" y="52120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et alertes</a:t>
            </a:r>
            <a:endParaRPr lang="en-US" sz="1700" dirty="0"/>
          </a:p>
        </p:txBody>
      </p:sp>
      <p:sp>
        <p:nvSpPr>
          <p:cNvPr id="35" name="Shape 25"/>
          <p:cNvSpPr/>
          <p:nvPr/>
        </p:nvSpPr>
        <p:spPr>
          <a:xfrm>
            <a:off x="6172200" y="51206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26"/>
          <p:cNvSpPr/>
          <p:nvPr/>
        </p:nvSpPr>
        <p:spPr>
          <a:xfrm>
            <a:off x="6400800" y="52806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6365" y="5456225"/>
            <a:ext cx="380390" cy="38039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269480" y="52120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7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8" grpId="0" animBg="1"/>
      <p:bldP spid="22" grpId="0" animBg="1"/>
      <p:bldP spid="26" grpId="0" animBg="1"/>
      <p:bldP spid="30" grpId="0" animBg="1"/>
      <p:bldP spid="34" grpId="0" animBg="1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DÉMARCHE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5" y="227868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2880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1828800" y="2377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de modélisation retenu (face à MERISE)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943600" y="155448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217920" y="2103120"/>
            <a:ext cx="731520" cy="73152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485" y="227868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2376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AUP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7223760" y="2377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Unified Process : itératif et incrémental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4023360"/>
            <a:ext cx="2834640" cy="1097280"/>
          </a:xfrm>
          <a:prstGeom prst="chevron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3"/>
          <p:cNvSpPr txBox="1"/>
          <p:nvPr/>
        </p:nvSpPr>
        <p:spPr>
          <a:xfrm>
            <a:off x="105156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Inception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73152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acteurs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337560" y="4023360"/>
            <a:ext cx="2834640" cy="1097280"/>
          </a:xfrm>
          <a:prstGeom prst="chevron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6"/>
          <p:cNvSpPr txBox="1"/>
          <p:nvPr/>
        </p:nvSpPr>
        <p:spPr>
          <a:xfrm>
            <a:off x="384048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Élaboration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352044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Besoins, architecture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126480" y="4023360"/>
            <a:ext cx="2834640" cy="1097280"/>
          </a:xfrm>
          <a:prstGeom prst="chevron">
            <a:avLst/>
          </a:prstGeom>
          <a:solidFill>
            <a:srgbClr val="43A0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 txBox="1"/>
          <p:nvPr/>
        </p:nvSpPr>
        <p:spPr>
          <a:xfrm>
            <a:off x="662940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630936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915400" y="4023360"/>
            <a:ext cx="2834640" cy="1097280"/>
          </a:xfrm>
          <a:prstGeom prst="chevron">
            <a:avLst/>
          </a:prstGeom>
          <a:solidFill>
            <a:srgbClr val="66BB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2"/>
          <p:cNvSpPr txBox="1"/>
          <p:nvPr/>
        </p:nvSpPr>
        <p:spPr>
          <a:xfrm>
            <a:off x="941832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</a:t>
            </a:r>
            <a:endParaRPr lang="en-US" sz="1700" dirty="0"/>
          </a:p>
        </p:txBody>
      </p:sp>
      <p:sp>
        <p:nvSpPr>
          <p:cNvPr id="28" name="Text 23"/>
          <p:cNvSpPr txBox="1"/>
          <p:nvPr/>
        </p:nvSpPr>
        <p:spPr>
          <a:xfrm>
            <a:off x="909828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déploiement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ANALYSE ET CONCEPTION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Modélisation UML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731520" y="2468880"/>
            <a:ext cx="594360" cy="59436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261152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d’utilisation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361736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337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3"/>
          <p:cNvSpPr/>
          <p:nvPr/>
        </p:nvSpPr>
        <p:spPr>
          <a:xfrm>
            <a:off x="731520" y="4480560"/>
            <a:ext cx="594360" cy="59436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" y="4623206"/>
            <a:ext cx="309067" cy="30906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508760" y="4343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548640" y="534924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6"/>
          <p:cNvSpPr/>
          <p:nvPr/>
        </p:nvSpPr>
        <p:spPr>
          <a:xfrm>
            <a:off x="731520" y="5486400"/>
            <a:ext cx="594360" cy="59436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66" y="5629046"/>
            <a:ext cx="309067" cy="30906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508760" y="5349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4297680" y="155448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19"/>
          <p:cNvSpPr txBox="1"/>
          <p:nvPr/>
        </p:nvSpPr>
        <p:spPr>
          <a:xfrm>
            <a:off x="429768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</a:t>
            </a:r>
            <a:endParaRPr lang="en-US" sz="1900" dirty="0"/>
          </a:p>
        </p:txBody>
      </p:sp>
      <p:sp>
        <p:nvSpPr>
          <p:cNvPr id="27" name="Shape 20"/>
          <p:cNvSpPr/>
          <p:nvPr/>
        </p:nvSpPr>
        <p:spPr>
          <a:xfrm>
            <a:off x="4297680" y="233172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1"/>
          <p:cNvSpPr/>
          <p:nvPr/>
        </p:nvSpPr>
        <p:spPr>
          <a:xfrm>
            <a:off x="4480560" y="2468880"/>
            <a:ext cx="594360" cy="59436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3206" y="2611526"/>
            <a:ext cx="309067" cy="30906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25780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700" dirty="0"/>
          </a:p>
        </p:txBody>
      </p:sp>
      <p:sp>
        <p:nvSpPr>
          <p:cNvPr id="31" name="Shape 23"/>
          <p:cNvSpPr/>
          <p:nvPr/>
        </p:nvSpPr>
        <p:spPr>
          <a:xfrm>
            <a:off x="4297680" y="333756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4"/>
          <p:cNvSpPr/>
          <p:nvPr/>
        </p:nvSpPr>
        <p:spPr>
          <a:xfrm>
            <a:off x="4480560" y="3474720"/>
            <a:ext cx="594360" cy="59436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3206" y="3617366"/>
            <a:ext cx="309067" cy="309067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257800" y="3337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État-transition</a:t>
            </a:r>
            <a:endParaRPr lang="en-US" sz="1700" dirty="0"/>
          </a:p>
        </p:txBody>
      </p:sp>
      <p:sp>
        <p:nvSpPr>
          <p:cNvPr id="35" name="Shape 26"/>
          <p:cNvSpPr/>
          <p:nvPr/>
        </p:nvSpPr>
        <p:spPr>
          <a:xfrm>
            <a:off x="4297680" y="434340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27"/>
          <p:cNvSpPr/>
          <p:nvPr/>
        </p:nvSpPr>
        <p:spPr>
          <a:xfrm>
            <a:off x="4480560" y="4480560"/>
            <a:ext cx="594360" cy="59436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3206" y="4623206"/>
            <a:ext cx="309067" cy="309067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257800" y="4343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Paquetage</a:t>
            </a:r>
            <a:endParaRPr lang="en-US" sz="1700" dirty="0"/>
          </a:p>
        </p:txBody>
      </p:sp>
      <p:sp>
        <p:nvSpPr>
          <p:cNvPr id="39" name="Shape 29"/>
          <p:cNvSpPr/>
          <p:nvPr/>
        </p:nvSpPr>
        <p:spPr>
          <a:xfrm>
            <a:off x="8046720" y="155448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0"/>
          <p:cNvSpPr txBox="1"/>
          <p:nvPr/>
        </p:nvSpPr>
        <p:spPr>
          <a:xfrm>
            <a:off x="804672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Réalisation</a:t>
            </a:r>
            <a:endParaRPr lang="en-US" sz="1900" dirty="0"/>
          </a:p>
        </p:txBody>
      </p:sp>
      <p:sp>
        <p:nvSpPr>
          <p:cNvPr id="41" name="Shape 31"/>
          <p:cNvSpPr/>
          <p:nvPr/>
        </p:nvSpPr>
        <p:spPr>
          <a:xfrm>
            <a:off x="8046720" y="233172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32"/>
          <p:cNvSpPr/>
          <p:nvPr/>
        </p:nvSpPr>
        <p:spPr>
          <a:xfrm>
            <a:off x="8229600" y="2468880"/>
            <a:ext cx="594360" cy="59436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2246" y="2611526"/>
            <a:ext cx="309067" cy="309067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00684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700" dirty="0"/>
          </a:p>
        </p:txBody>
      </p:sp>
      <p:sp>
        <p:nvSpPr>
          <p:cNvPr id="45" name="Shape 34"/>
          <p:cNvSpPr/>
          <p:nvPr/>
        </p:nvSpPr>
        <p:spPr>
          <a:xfrm>
            <a:off x="8046720" y="333756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35"/>
          <p:cNvSpPr/>
          <p:nvPr/>
        </p:nvSpPr>
        <p:spPr>
          <a:xfrm>
            <a:off x="8229600" y="3474720"/>
            <a:ext cx="594360" cy="59436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2246" y="3617366"/>
            <a:ext cx="309067" cy="309067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9006840" y="3337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17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20" grpId="0" animBg="1"/>
      <p:bldP spid="24" grpId="0" animBg="1"/>
      <p:bldP spid="26" grpId="0" animBg="1"/>
      <p:bldP spid="30" grpId="0" animBg="1"/>
      <p:bldP spid="34" grpId="0" animBg="1"/>
      <p:bldP spid="38" grpId="0" animBg="1"/>
      <p:bldP spid="40" grpId="0" animBg="1"/>
      <p:bldP spid="44" grpId="0" animBg="1"/>
      <p:bldP spid="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ANALYSE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Acteurs et cas d’utilisation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505" y="6193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777240" y="1664208"/>
            <a:ext cx="685800" cy="68580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1828800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527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Visiteur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1920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· Créer un compte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274320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777240" y="2990088"/>
            <a:ext cx="685800" cy="68580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154680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2852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Producteur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1691640" y="3246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Exploitations · Cultures · Planification · Sol · Diagnostic · Prédictions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406908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3"/>
          <p:cNvSpPr/>
          <p:nvPr/>
        </p:nvSpPr>
        <p:spPr>
          <a:xfrm>
            <a:off x="777240" y="4315968"/>
            <a:ext cx="685800" cy="685800"/>
          </a:xfrm>
          <a:prstGeom prst="ellipse">
            <a:avLst/>
          </a:prstGeom>
          <a:solidFill>
            <a:srgbClr val="DCEFDF"/>
          </a:solidFill>
          <a:ln w="12700">
            <a:solidFill>
              <a:srgbClr val="DCEF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480560"/>
            <a:ext cx="356616" cy="35661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9164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Administrateur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1691640" y="4572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· Tableau de bord · Mises à jour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externes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580644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DCEFD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8"/>
          <p:cNvSpPr txBox="1"/>
          <p:nvPr/>
        </p:nvSpPr>
        <p:spPr>
          <a:xfrm>
            <a:off x="548640" y="5806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2103120" y="5806440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DCEFD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0"/>
          <p:cNvSpPr txBox="1"/>
          <p:nvPr/>
        </p:nvSpPr>
        <p:spPr>
          <a:xfrm>
            <a:off x="2103120" y="5806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337560" y="580644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DCEFD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2"/>
          <p:cNvSpPr txBox="1"/>
          <p:nvPr/>
        </p:nvSpPr>
        <p:spPr>
          <a:xfrm>
            <a:off x="3337560" y="5806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846320" y="5806440"/>
            <a:ext cx="2148840" cy="411480"/>
          </a:xfrm>
          <a:prstGeom prst="roundRect">
            <a:avLst>
              <a:gd name="adj" fmla="val 48889"/>
            </a:avLst>
          </a:prstGeom>
          <a:solidFill>
            <a:srgbClr val="DCEFD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 txBox="1"/>
          <p:nvPr/>
        </p:nvSpPr>
        <p:spPr>
          <a:xfrm>
            <a:off x="4846320" y="5806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IA de prédiction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866837" y="1234440"/>
            <a:ext cx="3834485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2" name="Image 4" descr="/tmp/assets/out/usec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1500" y="70639"/>
            <a:ext cx="4760426" cy="635715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  <p:bldP spid="20" grpId="0" animBg="1"/>
      <p:bldP spid="21" grpId="0" animBg="1"/>
      <p:bldP spid="22" grpId="0" animBg="1"/>
      <p:bldP spid="24" grpId="0" animBg="1"/>
      <p:bldP spid="26" grpId="0" animBg="1"/>
      <p:bldP spid="28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CONCEPTION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classes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DCEFD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548640" y="201168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 · Administrateur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DCEFD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548640" y="256032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DCEFD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 txBox="1"/>
          <p:nvPr/>
        </p:nvSpPr>
        <p:spPr>
          <a:xfrm>
            <a:off x="548640" y="31089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65760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DCEFD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 txBox="1"/>
          <p:nvPr/>
        </p:nvSpPr>
        <p:spPr>
          <a:xfrm>
            <a:off x="548640" y="36576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20624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DCEFD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548640" y="420624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AnalyseSol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75488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DCEFD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 txBox="1"/>
          <p:nvPr/>
        </p:nvSpPr>
        <p:spPr>
          <a:xfrm>
            <a:off x="548640" y="475488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DiagnosticPhytosanitaire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530352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DCEFD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 txBox="1"/>
          <p:nvPr/>
        </p:nvSpPr>
        <p:spPr>
          <a:xfrm>
            <a:off x="548640" y="530352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PredictionRecolte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585216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DCEFD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 txBox="1"/>
          <p:nvPr/>
        </p:nvSpPr>
        <p:spPr>
          <a:xfrm>
            <a:off x="548640" y="58521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101335" y="1280160"/>
            <a:ext cx="526237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1" descr="/tmp/assets/out/clas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335" y="1280160"/>
            <a:ext cx="5262370" cy="512064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RÉALISATION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 la solution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39" y="1219204"/>
            <a:ext cx="11201401" cy="411311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4"/>
          <p:cNvSpPr/>
          <p:nvPr/>
        </p:nvSpPr>
        <p:spPr>
          <a:xfrm>
            <a:off x="1767847" y="557784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5"/>
          <p:cNvSpPr txBox="1"/>
          <p:nvPr/>
        </p:nvSpPr>
        <p:spPr>
          <a:xfrm>
            <a:off x="1767847" y="5577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3-tiers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7441493" y="557784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7"/>
          <p:cNvSpPr txBox="1"/>
          <p:nvPr/>
        </p:nvSpPr>
        <p:spPr>
          <a:xfrm>
            <a:off x="7441493" y="5577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500" dirty="0"/>
          </a:p>
        </p:txBody>
      </p:sp>
      <p:pic>
        <p:nvPicPr>
          <p:cNvPr id="29" name="Picture 16232">
            <a:extLst>
              <a:ext uri="{FF2B5EF4-FFF2-40B4-BE49-F238E27FC236}">
                <a16:creationId xmlns:a16="http://schemas.microsoft.com/office/drawing/2014/main" id="{D0ADA99B-CC07-6737-5C1A-15898A90B6F6}"/>
              </a:ext>
            </a:extLst>
          </p:cNvPr>
          <p:cNvPicPr/>
          <p:nvPr/>
        </p:nvPicPr>
        <p:blipFill rotWithShape="1">
          <a:blip r:embed="rId4"/>
          <a:srcRect l="4987" t="1920" r="7297" b="3291"/>
          <a:stretch>
            <a:fillRect/>
          </a:stretch>
        </p:blipFill>
        <p:spPr bwMode="auto">
          <a:xfrm>
            <a:off x="444133" y="1314244"/>
            <a:ext cx="5547360" cy="39230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" name="Picture 16495">
            <a:extLst>
              <a:ext uri="{FF2B5EF4-FFF2-40B4-BE49-F238E27FC236}">
                <a16:creationId xmlns:a16="http://schemas.microsoft.com/office/drawing/2014/main" id="{24998E62-4A8A-DF5B-4ED2-8FB4C58812A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061167" y="1314244"/>
            <a:ext cx="5658461" cy="39230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RÉALISATION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utilisées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99" y="320039"/>
            <a:ext cx="1100137" cy="6400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1488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37360" y="1965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548640" y="3108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29184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3736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548640" y="4251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434840"/>
            <a:ext cx="640080" cy="6400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251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900" dirty="0"/>
          </a:p>
        </p:txBody>
      </p:sp>
      <p:sp>
        <p:nvSpPr>
          <p:cNvPr id="17" name="Text 11"/>
          <p:cNvSpPr txBox="1"/>
          <p:nvPr/>
        </p:nvSpPr>
        <p:spPr>
          <a:xfrm>
            <a:off x="42976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97680" y="1965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148840"/>
            <a:ext cx="640080" cy="64008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486400" y="1965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900" dirty="0"/>
          </a:p>
        </p:txBody>
      </p:sp>
      <p:sp>
        <p:nvSpPr>
          <p:cNvPr id="21" name="Shape 14"/>
          <p:cNvSpPr/>
          <p:nvPr/>
        </p:nvSpPr>
        <p:spPr>
          <a:xfrm>
            <a:off x="4297680" y="3108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291840"/>
            <a:ext cx="640080" cy="6400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48640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900" dirty="0"/>
          </a:p>
        </p:txBody>
      </p:sp>
      <p:sp>
        <p:nvSpPr>
          <p:cNvPr id="24" name="Shape 16"/>
          <p:cNvSpPr/>
          <p:nvPr/>
        </p:nvSpPr>
        <p:spPr>
          <a:xfrm>
            <a:off x="4297680" y="4251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4434840"/>
            <a:ext cx="640080" cy="64008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486400" y="4251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900" dirty="0"/>
          </a:p>
        </p:txBody>
      </p:sp>
      <p:sp>
        <p:nvSpPr>
          <p:cNvPr id="27" name="Text 18"/>
          <p:cNvSpPr txBox="1"/>
          <p:nvPr/>
        </p:nvSpPr>
        <p:spPr>
          <a:xfrm>
            <a:off x="80467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déploiement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8046720" y="1965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2148840"/>
            <a:ext cx="640080" cy="64008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9235440" y="1965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31" name="Shape 21"/>
          <p:cNvSpPr/>
          <p:nvPr/>
        </p:nvSpPr>
        <p:spPr>
          <a:xfrm>
            <a:off x="8046720" y="3108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1040" y="3291840"/>
            <a:ext cx="640080" cy="64008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923544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900" dirty="0"/>
          </a:p>
        </p:txBody>
      </p:sp>
      <p:sp>
        <p:nvSpPr>
          <p:cNvPr id="34" name="Shape 23"/>
          <p:cNvSpPr/>
          <p:nvPr/>
        </p:nvSpPr>
        <p:spPr>
          <a:xfrm>
            <a:off x="8046720" y="4251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1040" y="4434840"/>
            <a:ext cx="640080" cy="64008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9235440" y="4251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900" dirty="0"/>
          </a:p>
        </p:txBody>
      </p:sp>
      <p:sp>
        <p:nvSpPr>
          <p:cNvPr id="37" name="Text 25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VS Code · Git / GitHub · Postman · Power AMC · GanttProject · Stitch</a:t>
            </a:r>
            <a:endParaRPr lang="en-US" sz="15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6" grpId="0" animBg="1"/>
      <p:bldP spid="17" grpId="0" animBg="1"/>
      <p:bldP spid="20" grpId="0" animBg="1"/>
      <p:bldP spid="23" grpId="0" animBg="1"/>
      <p:bldP spid="26" grpId="0" animBg="1"/>
      <p:bldP spid="27" grpId="0" animBg="1"/>
      <p:bldP spid="30" grpId="0" animBg="1"/>
      <p:bldP spid="33" grpId="0" animBg="1"/>
      <p:bldP spid="36" grpId="0" animBg="1"/>
      <p:bldP spid="3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RÉALISATION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 et services externes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1645920" y="1828800"/>
            <a:ext cx="1280160" cy="128016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158" y="2136038"/>
            <a:ext cx="665683" cy="66568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Open-Meteo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4389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cultures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297680" y="15544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5394960" y="1828800"/>
            <a:ext cx="1280160" cy="1280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2198" y="2136038"/>
            <a:ext cx="665683" cy="66568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9768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Maps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429768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480560" y="4389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Localiser les exploitations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046720" y="15544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9144000" y="1828800"/>
            <a:ext cx="1280160" cy="128016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1238" y="2136038"/>
            <a:ext cx="665683" cy="66568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0" y="4389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et diagnostic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par API REST</a:t>
            </a:r>
            <a:endParaRPr lang="en-US" sz="15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APPLICATION EN DIRECT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184648" y="1645920"/>
            <a:ext cx="1828800" cy="1828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084832"/>
            <a:ext cx="950976" cy="9509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749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en direct</a:t>
            </a:r>
            <a:endParaRPr lang="en-US" sz="3400" dirty="0"/>
          </a:p>
        </p:txBody>
      </p:sp>
      <p:sp>
        <p:nvSpPr>
          <p:cNvPr id="10" name="Shape 6"/>
          <p:cNvSpPr/>
          <p:nvPr/>
        </p:nvSpPr>
        <p:spPr>
          <a:xfrm>
            <a:off x="777240" y="49377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1F8F2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 txBox="1"/>
          <p:nvPr/>
        </p:nvSpPr>
        <p:spPr>
          <a:xfrm>
            <a:off x="777240" y="4937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926080" y="49377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1F8F2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 txBox="1"/>
          <p:nvPr/>
        </p:nvSpPr>
        <p:spPr>
          <a:xfrm>
            <a:off x="2926080" y="4937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074920" y="49377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1F8F2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 txBox="1"/>
          <p:nvPr/>
        </p:nvSpPr>
        <p:spPr>
          <a:xfrm>
            <a:off x="5074920" y="4937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223760" y="49377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1F8F2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 txBox="1"/>
          <p:nvPr/>
        </p:nvSpPr>
        <p:spPr>
          <a:xfrm>
            <a:off x="7223760" y="4937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9372600" y="49377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1F8F2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 txBox="1"/>
          <p:nvPr/>
        </p:nvSpPr>
        <p:spPr>
          <a:xfrm>
            <a:off x="9372600" y="4937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sol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·  BILAN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1F8F2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1783080" y="2103120"/>
            <a:ext cx="1005840" cy="10058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4482" y="2344522"/>
            <a:ext cx="523037" cy="5230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7240" y="3383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agricoles analysés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297680" y="173736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1F8F2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5532120" y="2103120"/>
            <a:ext cx="1005840" cy="10058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522" y="2344522"/>
            <a:ext cx="523037" cy="52303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26280" y="3383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conçue et réalisée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8046720" y="173736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1F8F2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9281160" y="2103120"/>
            <a:ext cx="1005840" cy="10058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2562" y="2344522"/>
            <a:ext cx="523037" cy="52303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75320" y="3383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en génie logiciel mobilisées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Agrilink accompagne les producteurs dans leur prise de décision</a:t>
            </a:r>
            <a:endParaRPr lang="en-US" sz="2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·  ÉVOLUTIONS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3200" dirty="0"/>
          </a:p>
        </p:txBody>
      </p:sp>
      <p:pic>
        <p:nvPicPr>
          <p:cNvPr id="5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402868" y="1902831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3640177" y="2268591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742" y="2444156"/>
            <a:ext cx="380390" cy="3803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08857" y="1994271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fonctionnalités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548640" y="3866613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777240" y="4232373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4407938"/>
            <a:ext cx="380390" cy="38039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45920" y="3958053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d’IA améliorés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6172200" y="387533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1F8F2"/>
          </a:solidFill>
          <a:ln w="9525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6400800" y="424109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6365" y="4416655"/>
            <a:ext cx="380390" cy="38039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69480" y="396677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Techniciens et conseillers agricoles</a:t>
            </a:r>
            <a:endParaRPr lang="en-US" sz="20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108960"/>
            <a:ext cx="5486400" cy="548640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828800" y="-2011680"/>
            <a:ext cx="4572000" cy="457200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0" descr="/tmp/assets/out/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731520"/>
            <a:ext cx="2286000" cy="13300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017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Agrilink · Plateforme intelligente pour une agriculture durable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655</Words>
  <Application>Microsoft Office PowerPoint</Application>
  <PresentationFormat>Grand écran</PresentationFormat>
  <Paragraphs>239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Agrilink — Soutenance de stage</dc:title>
  <dc:subject>PptxGenJS Presentation</dc:subject>
  <dc:creator>PptxGenJS</dc:creator>
  <cp:lastModifiedBy>SOPPO SONG KADMIEL DEPAIX</cp:lastModifiedBy>
  <cp:revision>10</cp:revision>
  <dcterms:created xsi:type="dcterms:W3CDTF">2026-09-23T23:17:22Z</dcterms:created>
  <dcterms:modified xsi:type="dcterms:W3CDTF">2026-09-24T10:26:18Z</dcterms:modified>
</cp:coreProperties>
</file>