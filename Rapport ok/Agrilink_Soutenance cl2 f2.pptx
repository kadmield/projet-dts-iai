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2E7D32">
              <a:alpha val="18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4114800" cy="4114800"/>
          </a:xfrm>
          <a:prstGeom prst="ellipse">
            <a:avLst/>
          </a:prstGeom>
          <a:solidFill>
            <a:srgbClr val="1976D2">
              <a:alpha val="15000"/>
            </a:srgbClr>
          </a:solidFill>
          <a:ln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49808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Agrilink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pour une agriculture durable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488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Analyse, conception et réalisation d'une plateforme numérique intelligente pour la gestion des procédés agricoles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STAGE · DTS GÉNIE LOGICIEL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SOPPO SONG Kadmiel Depaix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Mme BIDIMA EYENGA Dyna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professionnel : M. TAGNE NJIMEFO Alex B.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assets/out/i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89320"/>
            <a:ext cx="879071" cy="548640"/>
          </a:xfrm>
          <a:prstGeom prst="rect">
            <a:avLst/>
          </a:prstGeom>
        </p:spPr>
      </p:pic>
      <p:pic>
        <p:nvPicPr>
          <p:cNvPr id="13" name="Image 2" descr="/tmp/assets/out/dg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5989320"/>
            <a:ext cx="548640" cy="5619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34640" y="6080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IAI-Cameroun · DGC Sarl · 2025 – 2026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223760" y="1103358"/>
            <a:ext cx="4572000" cy="2365283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/tmp/assets/out/d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103358"/>
            <a:ext cx="4572000" cy="23652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680960" y="3964823"/>
            <a:ext cx="4114800" cy="212875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/tmp/assets/out/so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964823"/>
            <a:ext cx="4114800" cy="2128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286000" y="1828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619" y="198241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3355848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63016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5093208" y="1828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827" y="198241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30168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163056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437376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7900416" y="1828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035" y="198241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37376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Agrilink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8970264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924458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17"/>
          <p:cNvSpPr/>
          <p:nvPr/>
        </p:nvSpPr>
        <p:spPr>
          <a:xfrm>
            <a:off x="10707624" y="1828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1243" y="198241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244584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conception</a:t>
            </a:r>
            <a:endParaRPr lang="en-US" sz="1900" dirty="0"/>
          </a:p>
        </p:txBody>
      </p:sp>
      <p:sp>
        <p:nvSpPr>
          <p:cNvPr id="26" name="Shape 19"/>
          <p:cNvSpPr/>
          <p:nvPr/>
        </p:nvSpPr>
        <p:spPr>
          <a:xfrm>
            <a:off x="548640" y="3931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822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Shape 21"/>
          <p:cNvSpPr/>
          <p:nvPr/>
        </p:nvSpPr>
        <p:spPr>
          <a:xfrm>
            <a:off x="3108960" y="4114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579" y="426841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296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900" dirty="0"/>
          </a:p>
        </p:txBody>
      </p:sp>
      <p:sp>
        <p:nvSpPr>
          <p:cNvPr id="31" name="Shape 23"/>
          <p:cNvSpPr/>
          <p:nvPr/>
        </p:nvSpPr>
        <p:spPr>
          <a:xfrm>
            <a:off x="4297680" y="3931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457200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Shape 25"/>
          <p:cNvSpPr/>
          <p:nvPr/>
        </p:nvSpPr>
        <p:spPr>
          <a:xfrm>
            <a:off x="6858000" y="4114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619" y="4268419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57200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900" dirty="0"/>
          </a:p>
        </p:txBody>
      </p:sp>
      <p:sp>
        <p:nvSpPr>
          <p:cNvPr id="36" name="Shape 27"/>
          <p:cNvSpPr/>
          <p:nvPr/>
        </p:nvSpPr>
        <p:spPr>
          <a:xfrm>
            <a:off x="8046720" y="3931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83210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Shape 29"/>
          <p:cNvSpPr/>
          <p:nvPr/>
        </p:nvSpPr>
        <p:spPr>
          <a:xfrm>
            <a:off x="10607040" y="4114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0659" y="4268419"/>
            <a:ext cx="332842" cy="33284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3210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/ 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37360" y="2011680"/>
            <a:ext cx="1097280" cy="10972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707" y="2275027"/>
            <a:ext cx="570586" cy="5705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clé du Cameroun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017520"/>
            <a:ext cx="228600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9768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486400" y="2011680"/>
            <a:ext cx="1097280" cy="10972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47" y="2275027"/>
            <a:ext cx="570586" cy="57058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976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Numérique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4480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et Internet accessibles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017520"/>
            <a:ext cx="228600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9235440" y="2011680"/>
            <a:ext cx="1097280" cy="10972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787" y="2275027"/>
            <a:ext cx="570586" cy="57058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467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822960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pour gérer, planifier et décider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D’ACCUEIL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 DGC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dg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05840" cy="10302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116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Generation Company SARL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2103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au service de l’émergence de l’Afrique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160166"/>
            <a:ext cx="309067" cy="30906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017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le 17 juillet 2022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937406"/>
            <a:ext cx="309067" cy="309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94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Étoug-Ébé (Montée Science), Yaoundé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714646"/>
            <a:ext cx="309067" cy="309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45720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développement · Direction des projets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548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48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sites web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2834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2834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Infographie &amp; design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120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120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sécurité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59161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5916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834640" y="59161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2834640" y="5916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680960" y="1967487"/>
            <a:ext cx="4023360" cy="3197346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0" name="Image 5" descr="/tmp/assets/out/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967487"/>
            <a:ext cx="4023360" cy="319734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680960" y="5760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siège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enjeux agricoles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18,5 %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(2024)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29768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42,4 %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active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467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40 %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pertes sur certaines productions (FAO)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Procédés agricoles à organiser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4952390"/>
            <a:ext cx="427939" cy="42793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63040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2807208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18" y="49523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21608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065776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286" y="495239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980176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324344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854" y="495239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38744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9582912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2" y="4952390"/>
            <a:ext cx="427939" cy="42793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497312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Problèmes identifiés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0848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traditionnelle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3355848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08483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 détectées trop tard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163056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08483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91656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imprévisibles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8970264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208483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98864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techniques peu fiables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8795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724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cultures limité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429768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87952"/>
            <a:ext cx="356616" cy="35661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452628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Aléas climatiques</a:t>
            </a:r>
            <a:endParaRPr lang="en-US" sz="1700" dirty="0"/>
          </a:p>
        </p:txBody>
      </p:sp>
      <p:sp>
        <p:nvSpPr>
          <p:cNvPr id="30" name="Shape 21"/>
          <p:cNvSpPr/>
          <p:nvPr/>
        </p:nvSpPr>
        <p:spPr>
          <a:xfrm>
            <a:off x="804672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187952"/>
            <a:ext cx="356616" cy="35661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27532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peu adaptées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11887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0226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459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Comment améliorer la gestion, la planification et le suivi des procédés agricoles tout en facilitant la prise de décision des producteurs ? »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46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38328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46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9768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21792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463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3232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905256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8463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6696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941832"/>
            <a:ext cx="877824" cy="5107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Agrilink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numérique et intelligente de gestion des procédés agricoles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4937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14600" y="4937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1460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80560" y="4937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49440" y="804808"/>
            <a:ext cx="4754880" cy="524838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/tmp/assets/out/maqu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04808"/>
            <a:ext cx="4754880" cy="5248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principales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1450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189006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Exploitations, parcelles, cultures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171450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189006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activités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743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29032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07878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2834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opérations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172200" y="2743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29032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307878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2834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 et ressources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409194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267505"/>
            <a:ext cx="380390" cy="38039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645920" y="40233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phytosanitaire IA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617220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400800" y="409194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365" y="4267505"/>
            <a:ext cx="380390" cy="38039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69480" y="40233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prédiction</a:t>
            </a:r>
            <a:endParaRPr lang="en-US" sz="1700" dirty="0"/>
          </a:p>
        </p:txBody>
      </p:sp>
      <p:sp>
        <p:nvSpPr>
          <p:cNvPr id="30" name="Shape 21"/>
          <p:cNvSpPr/>
          <p:nvPr/>
        </p:nvSpPr>
        <p:spPr>
          <a:xfrm>
            <a:off x="548640" y="51206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77240" y="528066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5" y="5456225"/>
            <a:ext cx="380390" cy="38039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645920" y="5212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et alertes</a:t>
            </a:r>
            <a:endParaRPr lang="en-US" sz="1700" dirty="0"/>
          </a:p>
        </p:txBody>
      </p:sp>
      <p:sp>
        <p:nvSpPr>
          <p:cNvPr id="34" name="Shape 24"/>
          <p:cNvSpPr/>
          <p:nvPr/>
        </p:nvSpPr>
        <p:spPr>
          <a:xfrm>
            <a:off x="6172200" y="51206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400800" y="528066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6365" y="5456225"/>
            <a:ext cx="380390" cy="38039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269480" y="5212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Acteurs et cas d’utilisation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64208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28800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527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Créer un compte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74320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2990088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154680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2852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Producteur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3246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 · Cultures · Planification · Sol · Diagnostic · Prédictions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315968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80560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9164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6916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· Tableau de bord · Mises à jour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externes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5806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48640" y="5806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103120" y="5806440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103120" y="5806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337560" y="5806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337560" y="5806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846320" y="5806440"/>
            <a:ext cx="214884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5806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 de prédiction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866837" y="1234440"/>
            <a:ext cx="3834485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4" descr="/tmp/assets/out/use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837" y="1234440"/>
            <a:ext cx="383448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2786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modélisation retenu (face à MERISE)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943600" y="15544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5" y="227868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AUP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7223760" y="2377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Unified Process : itératif et incrémental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2834640" cy="1097280"/>
          </a:xfrm>
          <a:prstGeom prst="chevron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5156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acteurs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337560" y="4023360"/>
            <a:ext cx="2834640" cy="10972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84048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Élaboration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52044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Besoins, architecture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26480" y="4023360"/>
            <a:ext cx="2834640" cy="1097280"/>
          </a:xfrm>
          <a:prstGeom prst="chevron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2940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915400" y="4023360"/>
            <a:ext cx="2834640" cy="1097280"/>
          </a:xfrm>
          <a:prstGeom prst="chevron">
            <a:avLst/>
          </a:prstGeom>
          <a:solidFill>
            <a:srgbClr val="66B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41832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909828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déploiement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UML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6115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d’utilisation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61736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462320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548640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629046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429768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29768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900" dirty="0"/>
          </a:p>
        </p:txBody>
      </p:sp>
      <p:sp>
        <p:nvSpPr>
          <p:cNvPr id="26" name="Shape 19"/>
          <p:cNvSpPr/>
          <p:nvPr/>
        </p:nvSpPr>
        <p:spPr>
          <a:xfrm>
            <a:off x="429768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80560" y="246888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206" y="2611526"/>
            <a:ext cx="309067" cy="30906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5780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700" dirty="0"/>
          </a:p>
        </p:txBody>
      </p:sp>
      <p:sp>
        <p:nvSpPr>
          <p:cNvPr id="30" name="Shape 22"/>
          <p:cNvSpPr/>
          <p:nvPr/>
        </p:nvSpPr>
        <p:spPr>
          <a:xfrm>
            <a:off x="429768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480560" y="34747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206" y="3617366"/>
            <a:ext cx="309067" cy="30906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25780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État-transition</a:t>
            </a:r>
            <a:endParaRPr lang="en-US" sz="1700" dirty="0"/>
          </a:p>
        </p:txBody>
      </p:sp>
      <p:sp>
        <p:nvSpPr>
          <p:cNvPr id="34" name="Shape 25"/>
          <p:cNvSpPr/>
          <p:nvPr/>
        </p:nvSpPr>
        <p:spPr>
          <a:xfrm>
            <a:off x="4297680" y="4343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4480560" y="448056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206" y="4623206"/>
            <a:ext cx="309067" cy="30906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25780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Paquetage</a:t>
            </a:r>
            <a:endParaRPr lang="en-US" sz="1700" dirty="0"/>
          </a:p>
        </p:txBody>
      </p:sp>
      <p:sp>
        <p:nvSpPr>
          <p:cNvPr id="38" name="Shape 28"/>
          <p:cNvSpPr/>
          <p:nvPr/>
        </p:nvSpPr>
        <p:spPr>
          <a:xfrm>
            <a:off x="804672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804672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</a:t>
            </a:r>
            <a:endParaRPr lang="en-US" sz="1900" dirty="0"/>
          </a:p>
        </p:txBody>
      </p:sp>
      <p:sp>
        <p:nvSpPr>
          <p:cNvPr id="40" name="Shape 30"/>
          <p:cNvSpPr/>
          <p:nvPr/>
        </p:nvSpPr>
        <p:spPr>
          <a:xfrm>
            <a:off x="804672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8229600" y="246888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246" y="2611526"/>
            <a:ext cx="309067" cy="309067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00684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700" dirty="0"/>
          </a:p>
        </p:txBody>
      </p:sp>
      <p:sp>
        <p:nvSpPr>
          <p:cNvPr id="44" name="Shape 33"/>
          <p:cNvSpPr/>
          <p:nvPr/>
        </p:nvSpPr>
        <p:spPr>
          <a:xfrm>
            <a:off x="804672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8229600" y="34747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2246" y="3617366"/>
            <a:ext cx="309067" cy="309067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00684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classes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116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 · Administrateur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603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1089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AnalyseSol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7548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7548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DiagnosticPhytosanitaire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3035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3035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PredictionRecolte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8521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8521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01335" y="1280160"/>
            <a:ext cx="526237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1" descr="/tmp/assets/out/clas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335" y="1280160"/>
            <a:ext cx="526237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la solution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29896"/>
            <a:ext cx="8595360" cy="381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deplo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9896"/>
            <a:ext cx="8595360" cy="38153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418320" y="146304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555480" y="173736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099" y="189097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87000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9418320" y="283464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9555480" y="310896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099" y="32625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287000" y="28346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9418320" y="420624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555480" y="448056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099" y="463417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287000" y="42062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4864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338328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38328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21792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21792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905256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05256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cryptés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3736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42976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29768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14884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900" dirty="0"/>
          </a:p>
        </p:txBody>
      </p:sp>
      <p:sp>
        <p:nvSpPr>
          <p:cNvPr id="20" name="Shape 13"/>
          <p:cNvSpPr/>
          <p:nvPr/>
        </p:nvSpPr>
        <p:spPr>
          <a:xfrm>
            <a:off x="429768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91840"/>
            <a:ext cx="640080" cy="6400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900" dirty="0"/>
          </a:p>
        </p:txBody>
      </p:sp>
      <p:sp>
        <p:nvSpPr>
          <p:cNvPr id="23" name="Shape 15"/>
          <p:cNvSpPr/>
          <p:nvPr/>
        </p:nvSpPr>
        <p:spPr>
          <a:xfrm>
            <a:off x="429768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34840"/>
            <a:ext cx="640080" cy="64008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48640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900" dirty="0"/>
          </a:p>
        </p:txBody>
      </p:sp>
      <p:sp>
        <p:nvSpPr>
          <p:cNvPr id="26" name="Text 17"/>
          <p:cNvSpPr txBox="1"/>
          <p:nvPr/>
        </p:nvSpPr>
        <p:spPr>
          <a:xfrm>
            <a:off x="80467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déploiement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804672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148840"/>
            <a:ext cx="640080" cy="6400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23544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30" name="Shape 20"/>
          <p:cNvSpPr/>
          <p:nvPr/>
        </p:nvSpPr>
        <p:spPr>
          <a:xfrm>
            <a:off x="804672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291840"/>
            <a:ext cx="640080" cy="64008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23544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900" dirty="0"/>
          </a:p>
        </p:txBody>
      </p:sp>
      <p:sp>
        <p:nvSpPr>
          <p:cNvPr id="33" name="Shape 22"/>
          <p:cNvSpPr/>
          <p:nvPr/>
        </p:nvSpPr>
        <p:spPr>
          <a:xfrm>
            <a:off x="804672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434840"/>
            <a:ext cx="640080" cy="64008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23544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900" dirty="0"/>
          </a:p>
        </p:txBody>
      </p:sp>
      <p:sp>
        <p:nvSpPr>
          <p:cNvPr id="36" name="Text 24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VS Code · Git / GitHub · Postman · Power AMC · GanttProject · Stitch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et services externes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45920" y="1828800"/>
            <a:ext cx="1280160" cy="128016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58" y="2136038"/>
            <a:ext cx="665683" cy="66568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cultures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828800"/>
            <a:ext cx="1280160" cy="1280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8" y="2136038"/>
            <a:ext cx="665683" cy="6656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976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42976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les exploitations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0" y="1828800"/>
            <a:ext cx="1280160" cy="12801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38" y="2136038"/>
            <a:ext cx="665683" cy="66568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467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04672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diagnostic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par API REST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INTELLIGENTES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747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48640" y="448056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634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480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agricoles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0" y="310896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6928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78638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863840" y="2103120"/>
            <a:ext cx="3749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8600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6112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7863840" y="3291840"/>
            <a:ext cx="3749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74720"/>
            <a:ext cx="640080" cy="6400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961120" y="3291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900" dirty="0"/>
          </a:p>
        </p:txBody>
      </p:sp>
      <p:sp>
        <p:nvSpPr>
          <p:cNvPr id="25" name="Shape 17"/>
          <p:cNvSpPr/>
          <p:nvPr/>
        </p:nvSpPr>
        <p:spPr>
          <a:xfrm>
            <a:off x="7863840" y="4480560"/>
            <a:ext cx="3749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663440"/>
            <a:ext cx="640080" cy="6400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961120" y="4480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3246120"/>
            <a:ext cx="365760" cy="36576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3246120"/>
            <a:ext cx="365760" cy="36576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 · Diagnostic phytosanitaire · Prédiction des récoltes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l’application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134316" y="137160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16" y="1371600"/>
            <a:ext cx="4772248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71476" y="33832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271476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12156" y="137160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/tmp/assets/out/d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156" y="1371600"/>
            <a:ext cx="4772248" cy="2468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49316" y="33832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49316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1134316" y="402336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5" name="Image 3" descr="/tmp/assets/out/farm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16" y="4023360"/>
            <a:ext cx="4772248" cy="2468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71476" y="60350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271476" y="6035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exploitations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712156" y="402336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4" descr="/tmp/assets/out/so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156" y="4023360"/>
            <a:ext cx="4772248" cy="246888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849316" y="60350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849316" y="6035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D’UTILISATION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utilisateur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5577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5772"/>
            <a:ext cx="3474720" cy="179761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131861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13186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297680" y="145577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/tmp/assets/out/regi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55772"/>
            <a:ext cx="3474720" cy="179761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60520" y="131861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160520" y="13186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976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046720" y="1570006"/>
            <a:ext cx="3474720" cy="1569147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/tmp/assets/out/log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70006"/>
            <a:ext cx="3474720" cy="156914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09560" y="1432846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909560" y="14328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04672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548640" y="392465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2" name="Image 4" descr="/tmp/assets/out/d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24652"/>
            <a:ext cx="3474720" cy="179761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11480" y="378749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411480" y="3787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4297680" y="392465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5" descr="/tmp/assets/out/farm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924652"/>
            <a:ext cx="3474720" cy="179761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160520" y="378749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160520" y="3787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429768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</a:t>
            </a:r>
            <a:endParaRPr lang="en-US" sz="1700" dirty="0"/>
          </a:p>
        </p:txBody>
      </p:sp>
      <p:sp>
        <p:nvSpPr>
          <p:cNvPr id="31" name="Shape 23"/>
          <p:cNvSpPr/>
          <p:nvPr/>
        </p:nvSpPr>
        <p:spPr>
          <a:xfrm>
            <a:off x="8046720" y="392465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2" name="Image 6" descr="/tmp/assets/out/soi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924652"/>
            <a:ext cx="3474720" cy="179761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909560" y="378749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7909560" y="3787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804672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 DIRECT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4648" y="1645920"/>
            <a:ext cx="1828800" cy="1828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084832"/>
            <a:ext cx="950976" cy="9509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en direct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92608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7492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22376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2376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37260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7260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482" y="23445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agricoles analysés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3212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522" y="234452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conçue et réalisée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04672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8116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562" y="234452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en génie logiciel mobilisées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Agrilink accompagne les producteurs dans leur prise de décision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2786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8288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cultures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172200" y="17373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227868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18288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fonctionnalités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384048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01604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35661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d’IA améliorés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6172200" y="34747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384048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401604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35661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Techniciens et conseillers agricoles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108960"/>
            <a:ext cx="5486400" cy="5486400"/>
          </a:xfrm>
          <a:prstGeom prst="ellipse">
            <a:avLst/>
          </a:prstGeom>
          <a:solidFill>
            <a:srgbClr val="2E7D32">
              <a:alpha val="18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7980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 · Plateforme intelligente pour une agriculture durable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Agrilink — Soutenance de stage</dc:title>
  <dc:subject>PptxGenJS Presentation</dc:subject>
  <dc:creator>PptxGenJS</dc:creator>
  <cp:lastModifiedBy>PptxGenJS</cp:lastModifiedBy>
  <cp:revision>1</cp:revision>
  <dcterms:created xsi:type="dcterms:W3CDTF">2026-09-23T23:17:21Z</dcterms:created>
  <dcterms:modified xsi:type="dcterms:W3CDTF">2026-09-23T23:17:21Z</dcterms:modified>
</cp:coreProperties>
</file>